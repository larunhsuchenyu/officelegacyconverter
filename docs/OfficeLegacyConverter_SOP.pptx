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7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7A0322-2FEA-4768-A35A-498BA83C5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EB88EC2-FC45-4001-A649-C4621BD88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A549BD-B186-4FE5-8484-3D6786C61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EA32-B2FB-4A7B-B8FC-056EEFEFEC5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900789D-A9B0-423E-92A4-CA6D61A9A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686832-7A8F-45ED-B662-6B9C2D487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130C0-2FD1-4321-BDD4-657C276DE4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1242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1ECDAA-985A-4B5B-B6C1-15B68B2CD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2AB5B2-8C1F-4420-B4AE-9644FD6C8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4EB095-188D-46A6-925D-F0FE71785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EA32-B2FB-4A7B-B8FC-056EEFEFEC5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C3C815-4A8F-4351-882D-63F12B4A4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F1DE6D7-3CA8-4DF9-A1F5-1A762D4A4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130C0-2FD1-4321-BDD4-657C276DE4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5170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3C1D65-1CDB-424D-9EE5-261617AB5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73BD17F-DA7A-4460-A8AD-7EA52CC73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C27776-8E3C-4BF0-957F-4D212E042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EA32-B2FB-4A7B-B8FC-056EEFEFEC5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CE24C6-85E0-4626-A5B8-1D7C9612D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99B8A53-C36B-4436-ADCB-5868EFC5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130C0-2FD1-4321-BDD4-657C276DE4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5486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0532C8-4295-47DA-9D0A-1B3695F2C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07F265-36B1-4D08-B669-2193DC7E08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1D456D0-D3D0-4EF8-A866-D2CD43E88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20054F7-7951-4273-9034-5F03E0F4F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EA32-B2FB-4A7B-B8FC-056EEFEFEC5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32D4FF9-4DBA-43B5-ABC4-C1EA76FA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5C6CC9-1FB3-4B98-963D-9FFC173B0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130C0-2FD1-4321-BDD4-657C276DE4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4903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5AA2EE-A997-4608-8E10-852490722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B6D21C4-4EA8-496F-821A-59CBE6480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6DF3890-2864-4416-A583-F30EB6B87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A94AA79-9411-473E-B6CD-7313004445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BB6A274-AAF2-44D0-8BCF-F4FBC687F1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718A450-B09B-4ECD-AE9A-C0F41EBEF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EA32-B2FB-4A7B-B8FC-056EEFEFEC5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AAD0C89-78C2-4A98-9A15-0A5F866A7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9CD54D7-5631-4CCB-949F-519C8ACA1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130C0-2FD1-4321-BDD4-657C276DE4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320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3E66A0-C0B3-45ED-94AC-6534D0F3A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AA6DB74-A7B4-44F7-AA52-FA27A47C2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EA32-B2FB-4A7B-B8FC-056EEFEFEC5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97B251B-B1AF-4FE1-9093-227E2254D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DDBEE00-C120-4697-AFE4-73B215057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130C0-2FD1-4321-BDD4-657C276DE4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299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AAEBD4A-C163-4678-8E0E-1CB4C5384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EA32-B2FB-4A7B-B8FC-056EEFEFEC5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F1860F0-D1B4-4BC9-A0E8-0F3E3749F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DFAE631-AF8B-401F-89D6-355B750D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130C0-2FD1-4321-BDD4-657C276DE4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792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4E3E43-4A82-436C-88EA-11649C0DC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D6172E-CC46-4537-B648-78E269AB6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171A8B0-D995-49CD-A53B-B7C7AFCEB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E54631F-AB39-465C-8AC6-734D142BD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EA32-B2FB-4A7B-B8FC-056EEFEFEC5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603106F-3E25-4DE1-B986-3A4854076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1A867DC-9E2D-4A3E-A41C-1E75E17B1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130C0-2FD1-4321-BDD4-657C276DE4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850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4EFC10-6D8B-4F94-A1D5-81DE735B3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C68E104-0DAF-4703-96E4-7FB86A820C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CAAEDD7-C64A-4990-952E-6DA56A96F9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4C52CE9-AAFC-4CEA-8792-CFC82CF7B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EA32-B2FB-4A7B-B8FC-056EEFEFEC5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BFFC006-94DC-467B-8100-74972D4B7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0185CD8-2BC7-4C4A-BEF7-E544F3A7D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130C0-2FD1-4321-BDD4-657C276DE4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0475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003CF6-AEE9-4F63-A884-DC719D22C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296CF5F-039B-4FC1-8B1E-7A2C3A340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22B4FF-CD13-4F05-BBBB-746CA5C5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EA32-B2FB-4A7B-B8FC-056EEFEFEC5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3B869F-67F0-41F0-B1C0-5295A9624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2FC075-EA93-44C3-8ED8-69B0DF7E2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130C0-2FD1-4321-BDD4-657C276DE4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1976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35A35D8-393B-41AF-AF6B-B766408FA0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CE6D91C-0194-4BD3-9EFB-E50DEF5C0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721219-06FF-46D5-9305-BAD23B424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EA32-B2FB-4A7B-B8FC-056EEFEFEC5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F598141-8B35-4953-AAF9-C7E655F10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7C06D40-C92E-4F7C-8183-777952C32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130C0-2FD1-4321-BDD4-657C276DE4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802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62765CF-99C4-4617-8153-8193D89DD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E32A744-C6F1-44CF-81CF-95082FA61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D7AD47-7D06-4495-B093-FE0D6A1995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FEA32-B2FB-4A7B-B8FC-056EEFEFEC5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5B0547-62A0-4B27-B3D1-4C62F2D91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B08999-5598-481B-8E0B-305CDD87CE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E130C0-2FD1-4321-BDD4-657C276DE4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2971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57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C934E8E-DC94-4185-9EE0-D1677D1F5076}"/>
              </a:ext>
            </a:extLst>
          </p:cNvPr>
          <p:cNvSpPr txBox="1"/>
          <p:nvPr/>
        </p:nvSpPr>
        <p:spPr>
          <a:xfrm>
            <a:off x="508000" y="1524000"/>
            <a:ext cx="8128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TW" sz="3200" b="1">
                <a:solidFill>
                  <a:srgbClr val="FFFFFF"/>
                </a:solidFill>
                <a:latin typeface="Microsoft JhengHei" panose="020B0604030504040204" pitchFamily="34" charset="-120"/>
              </a:rPr>
              <a:t>OfficeLegacyConverter </a:t>
            </a:r>
            <a:r>
              <a:rPr lang="zh-TW" altLang="en-US" sz="3200" b="1">
                <a:solidFill>
                  <a:srgbClr val="FFFFFF"/>
                </a:solidFill>
                <a:latin typeface="Microsoft JhengHei" panose="020B0604030504040204" pitchFamily="34" charset="-120"/>
              </a:rPr>
              <a:t>操作標準程序（</a:t>
            </a:r>
            <a:r>
              <a:rPr lang="en-US" altLang="zh-TW" sz="3200" b="1">
                <a:solidFill>
                  <a:srgbClr val="FFFFFF"/>
                </a:solidFill>
                <a:latin typeface="Microsoft JhengHei" panose="020B0604030504040204" pitchFamily="34" charset="-120"/>
              </a:rPr>
              <a:t>SOP</a:t>
            </a:r>
            <a:r>
              <a:rPr lang="zh-TW" altLang="en-US" sz="3200" b="1">
                <a:solidFill>
                  <a:srgbClr val="FFFFFF"/>
                </a:solidFill>
                <a:latin typeface="Microsoft JhengHei" panose="020B0604030504040204" pitchFamily="34" charset="-120"/>
              </a:rPr>
              <a:t>）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3A281A1-9786-404A-B6A6-0D233E648F69}"/>
              </a:ext>
            </a:extLst>
          </p:cNvPr>
          <p:cNvSpPr txBox="1"/>
          <p:nvPr/>
        </p:nvSpPr>
        <p:spPr>
          <a:xfrm>
            <a:off x="508000" y="2667000"/>
            <a:ext cx="8128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TW" sz="2000">
                <a:solidFill>
                  <a:srgbClr val="D2E6F0"/>
                </a:solidFill>
                <a:latin typeface="Microsoft JhengHei" panose="020B0604030504040204" pitchFamily="34" charset="-120"/>
              </a:rPr>
              <a:t>Office </a:t>
            </a:r>
            <a:r>
              <a:rPr lang="zh-TW" altLang="en-US" sz="2000">
                <a:solidFill>
                  <a:srgbClr val="D2E6F0"/>
                </a:solidFill>
                <a:latin typeface="Microsoft JhengHei" panose="020B0604030504040204" pitchFamily="34" charset="-120"/>
              </a:rPr>
              <a:t>舊格式批次轉換工具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81F100A-60A3-4E5A-9AE7-FF4133214206}"/>
              </a:ext>
            </a:extLst>
          </p:cNvPr>
          <p:cNvSpPr txBox="1"/>
          <p:nvPr/>
        </p:nvSpPr>
        <p:spPr>
          <a:xfrm>
            <a:off x="508000" y="38100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TW" altLang="en-US" sz="1400">
                <a:solidFill>
                  <a:srgbClr val="FFFFFF"/>
                </a:solidFill>
                <a:latin typeface="Microsoft JhengHei" panose="020B0604030504040204" pitchFamily="34" charset="-120"/>
              </a:rPr>
              <a:t>版本：</a:t>
            </a:r>
            <a:r>
              <a:rPr lang="en-US" altLang="zh-TW" sz="1400">
                <a:solidFill>
                  <a:srgbClr val="FFFFFF"/>
                </a:solidFill>
                <a:latin typeface="Microsoft JhengHei" panose="020B0604030504040204" pitchFamily="34" charset="-120"/>
              </a:rPr>
              <a:t>1.0
</a:t>
            </a:r>
            <a:r>
              <a:rPr lang="zh-TW" altLang="en-US" sz="1400">
                <a:solidFill>
                  <a:srgbClr val="FFFFFF"/>
                </a:solidFill>
                <a:latin typeface="Microsoft JhengHei" panose="020B0604030504040204" pitchFamily="34" charset="-120"/>
              </a:rPr>
              <a:t>日期：</a:t>
            </a:r>
            <a:r>
              <a:rPr lang="en-US" altLang="zh-TW" sz="1400">
                <a:solidFill>
                  <a:srgbClr val="FFFFFF"/>
                </a:solidFill>
                <a:latin typeface="Microsoft JhengHei" panose="020B0604030504040204" pitchFamily="34" charset="-120"/>
              </a:rPr>
              <a:t>2026/06/09</a:t>
            </a:r>
            <a:endParaRPr lang="zh-TW" altLang="en-US" sz="1400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BD20F2C-7115-47C9-B30A-4D7487390102}"/>
              </a:ext>
            </a:extLst>
          </p:cNvPr>
          <p:cNvSpPr txBox="1"/>
          <p:nvPr/>
        </p:nvSpPr>
        <p:spPr>
          <a:xfrm>
            <a:off x="8128000" y="47879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TW" sz="1000">
                <a:solidFill>
                  <a:srgbClr val="999999"/>
                </a:solidFill>
                <a:latin typeface="Microsoft JhengHei" panose="020B0604030504040204" pitchFamily="34" charset="-120"/>
              </a:rPr>
              <a:t>1 / 15</a:t>
            </a:r>
            <a:endParaRPr lang="zh-TW" altLang="en-US" sz="1000">
              <a:solidFill>
                <a:srgbClr val="999999"/>
              </a:solidFill>
              <a:latin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27852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45D2AFC-626A-4655-99D7-2690B01C267B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2B579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rtlCol="0" anchor="ctr"/>
          <a:lstStyle/>
          <a:p>
            <a:pPr algn="ctr"/>
            <a:r>
              <a:rPr lang="zh-TW" altLang="en-US" sz="2200" b="1">
                <a:solidFill>
                  <a:srgbClr val="FFFFFF"/>
                </a:solidFill>
                <a:latin typeface="Microsoft JhengHei" panose="020B0604030504040204" pitchFamily="34" charset="-120"/>
              </a:rPr>
              <a:t>目錄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06BF425-FF3E-4B10-8CC5-1831FB12AFEF}"/>
              </a:ext>
            </a:extLst>
          </p:cNvPr>
          <p:cNvSpPr txBox="1"/>
          <p:nvPr/>
        </p:nvSpPr>
        <p:spPr>
          <a:xfrm>
            <a:off x="381000" y="952500"/>
            <a:ext cx="8382000" cy="286232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TW">
                <a:solidFill>
                  <a:srgbClr val="333333"/>
                </a:solidFill>
                <a:latin typeface="Microsoft JhengHei" panose="020B0604030504040204" pitchFamily="34" charset="-120"/>
              </a:rPr>
              <a:t>1. </a:t>
            </a:r>
            <a:r>
              <a:rPr lang="zh-TW" altLang="en-US">
                <a:solidFill>
                  <a:srgbClr val="333333"/>
                </a:solidFill>
                <a:latin typeface="Microsoft JhengHei" panose="020B0604030504040204" pitchFamily="34" charset="-120"/>
              </a:rPr>
              <a:t>工具目的與適用範圍
</a:t>
            </a:r>
            <a:r>
              <a:rPr lang="en-US" altLang="zh-TW">
                <a:solidFill>
                  <a:srgbClr val="333333"/>
                </a:solidFill>
                <a:latin typeface="Microsoft JhengHei" panose="020B0604030504040204" pitchFamily="34" charset="-120"/>
              </a:rPr>
              <a:t>2. </a:t>
            </a:r>
            <a:r>
              <a:rPr lang="zh-TW" altLang="en-US">
                <a:solidFill>
                  <a:srgbClr val="333333"/>
                </a:solidFill>
                <a:latin typeface="Microsoft JhengHei" panose="020B0604030504040204" pitchFamily="34" charset="-120"/>
              </a:rPr>
              <a:t>系統需求
</a:t>
            </a:r>
            <a:r>
              <a:rPr lang="en-US" altLang="zh-TW">
                <a:solidFill>
                  <a:srgbClr val="333333"/>
                </a:solidFill>
                <a:latin typeface="Microsoft JhengHei" panose="020B0604030504040204" pitchFamily="34" charset="-120"/>
              </a:rPr>
              <a:t>3. </a:t>
            </a:r>
            <a:r>
              <a:rPr lang="zh-TW" altLang="en-US">
                <a:solidFill>
                  <a:srgbClr val="333333"/>
                </a:solidFill>
                <a:latin typeface="Microsoft JhengHei" panose="020B0604030504040204" pitchFamily="34" charset="-120"/>
              </a:rPr>
              <a:t>安裝與啟動
</a:t>
            </a:r>
            <a:r>
              <a:rPr lang="en-US" altLang="zh-TW">
                <a:solidFill>
                  <a:srgbClr val="333333"/>
                </a:solidFill>
                <a:latin typeface="Microsoft JhengHei" panose="020B0604030504040204" pitchFamily="34" charset="-120"/>
              </a:rPr>
              <a:t>4. </a:t>
            </a:r>
            <a:r>
              <a:rPr lang="zh-TW" altLang="en-US">
                <a:solidFill>
                  <a:srgbClr val="333333"/>
                </a:solidFill>
                <a:latin typeface="Microsoft JhengHei" panose="020B0604030504040204" pitchFamily="34" charset="-120"/>
              </a:rPr>
              <a:t>使用者介面總覽
</a:t>
            </a:r>
            <a:r>
              <a:rPr lang="en-US" altLang="zh-TW">
                <a:solidFill>
                  <a:srgbClr val="333333"/>
                </a:solidFill>
                <a:latin typeface="Microsoft JhengHei" panose="020B0604030504040204" pitchFamily="34" charset="-120"/>
              </a:rPr>
              <a:t>5. </a:t>
            </a:r>
            <a:r>
              <a:rPr lang="zh-TW" altLang="en-US">
                <a:solidFill>
                  <a:srgbClr val="333333"/>
                </a:solidFill>
                <a:latin typeface="Microsoft JhengHei" panose="020B0604030504040204" pitchFamily="34" charset="-120"/>
              </a:rPr>
              <a:t>操作 </a:t>
            </a:r>
            <a:r>
              <a:rPr lang="en-US" altLang="zh-TW">
                <a:solidFill>
                  <a:srgbClr val="333333"/>
                </a:solidFill>
                <a:latin typeface="Microsoft JhengHei" panose="020B0604030504040204" pitchFamily="34" charset="-120"/>
              </a:rPr>
              <a:t>SOP — DOC → DOCX
6. </a:t>
            </a:r>
            <a:r>
              <a:rPr lang="zh-TW" altLang="en-US">
                <a:solidFill>
                  <a:srgbClr val="333333"/>
                </a:solidFill>
                <a:latin typeface="Microsoft JhengHei" panose="020B0604030504040204" pitchFamily="34" charset="-120"/>
              </a:rPr>
              <a:t>操作 </a:t>
            </a:r>
            <a:r>
              <a:rPr lang="en-US" altLang="zh-TW">
                <a:solidFill>
                  <a:srgbClr val="333333"/>
                </a:solidFill>
                <a:latin typeface="Microsoft JhengHei" panose="020B0604030504040204" pitchFamily="34" charset="-120"/>
              </a:rPr>
              <a:t>SOP — XLS → XLSX
7. </a:t>
            </a:r>
            <a:r>
              <a:rPr lang="zh-TW" altLang="en-US">
                <a:solidFill>
                  <a:srgbClr val="333333"/>
                </a:solidFill>
                <a:latin typeface="Microsoft JhengHei" panose="020B0604030504040204" pitchFamily="34" charset="-120"/>
              </a:rPr>
              <a:t>操作 </a:t>
            </a:r>
            <a:r>
              <a:rPr lang="en-US" altLang="zh-TW">
                <a:solidFill>
                  <a:srgbClr val="333333"/>
                </a:solidFill>
                <a:latin typeface="Microsoft JhengHei" panose="020B0604030504040204" pitchFamily="34" charset="-120"/>
              </a:rPr>
              <a:t>SOP — PPT → PPTX
8. </a:t>
            </a:r>
            <a:r>
              <a:rPr lang="zh-TW" altLang="en-US">
                <a:solidFill>
                  <a:srgbClr val="333333"/>
                </a:solidFill>
                <a:latin typeface="Microsoft JhengHei" panose="020B0604030504040204" pitchFamily="34" charset="-120"/>
              </a:rPr>
              <a:t>進階選項說明
</a:t>
            </a:r>
            <a:r>
              <a:rPr lang="en-US" altLang="zh-TW">
                <a:solidFill>
                  <a:srgbClr val="333333"/>
                </a:solidFill>
                <a:latin typeface="Microsoft JhengHei" panose="020B0604030504040204" pitchFamily="34" charset="-120"/>
              </a:rPr>
              <a:t>9. </a:t>
            </a:r>
            <a:r>
              <a:rPr lang="zh-TW" altLang="en-US">
                <a:solidFill>
                  <a:srgbClr val="333333"/>
                </a:solidFill>
                <a:latin typeface="Microsoft JhengHei" panose="020B0604030504040204" pitchFamily="34" charset="-120"/>
              </a:rPr>
              <a:t>錯誤排除
</a:t>
            </a:r>
            <a:r>
              <a:rPr lang="en-US" altLang="zh-TW">
                <a:solidFill>
                  <a:srgbClr val="333333"/>
                </a:solidFill>
                <a:latin typeface="Microsoft JhengHei" panose="020B0604030504040204" pitchFamily="34" charset="-120"/>
              </a:rPr>
              <a:t>10. </a:t>
            </a:r>
            <a:r>
              <a:rPr lang="zh-TW" altLang="en-US">
                <a:solidFill>
                  <a:srgbClr val="333333"/>
                </a:solidFill>
                <a:latin typeface="Microsoft JhengHei" panose="020B0604030504040204" pitchFamily="34" charset="-120"/>
              </a:rPr>
              <a:t>技術架構簡介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5FD634D-41AA-4DF8-B187-01F857623D80}"/>
              </a:ext>
            </a:extLst>
          </p:cNvPr>
          <p:cNvSpPr txBox="1"/>
          <p:nvPr/>
        </p:nvSpPr>
        <p:spPr>
          <a:xfrm>
            <a:off x="8128000" y="47879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TW" sz="1000">
                <a:solidFill>
                  <a:srgbClr val="999999"/>
                </a:solidFill>
                <a:latin typeface="Microsoft JhengHei" panose="020B0604030504040204" pitchFamily="34" charset="-120"/>
              </a:rPr>
              <a:t>2 / 15</a:t>
            </a:r>
            <a:endParaRPr lang="zh-TW" altLang="en-US" sz="1000">
              <a:solidFill>
                <a:srgbClr val="999999"/>
              </a:solidFill>
              <a:latin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66590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3A679FD-E6C9-4DF5-B5AD-B0B151C4CD8D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2B579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rtlCol="0" anchor="ctr"/>
          <a:lstStyle/>
          <a:p>
            <a:pPr algn="ctr"/>
            <a:r>
              <a:rPr lang="en-US" altLang="zh-TW" sz="2200" b="1">
                <a:solidFill>
                  <a:srgbClr val="FFFFFF"/>
                </a:solidFill>
                <a:latin typeface="Microsoft JhengHei" panose="020B0604030504040204" pitchFamily="34" charset="-120"/>
              </a:rPr>
              <a:t>1. </a:t>
            </a:r>
            <a:r>
              <a:rPr lang="zh-TW" altLang="en-US" sz="2200" b="1">
                <a:solidFill>
                  <a:srgbClr val="FFFFFF"/>
                </a:solidFill>
                <a:latin typeface="Microsoft JhengHei" panose="020B0604030504040204" pitchFamily="34" charset="-120"/>
              </a:rPr>
              <a:t>工具目的與適用範圍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93D9854-E4EC-47C6-A24F-7AA5B714BF09}"/>
              </a:ext>
            </a:extLst>
          </p:cNvPr>
          <p:cNvSpPr txBox="1"/>
          <p:nvPr/>
        </p:nvSpPr>
        <p:spPr>
          <a:xfrm>
            <a:off x="381000" y="889000"/>
            <a:ext cx="8382000" cy="21698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TW" sz="1500">
                <a:solidFill>
                  <a:srgbClr val="333333"/>
                </a:solidFill>
                <a:latin typeface="Microsoft JhengHei" panose="020B0604030504040204" pitchFamily="34" charset="-120"/>
              </a:rPr>
              <a:t>【</a:t>
            </a:r>
            <a:r>
              <a:rPr lang="zh-TW" altLang="en-US" sz="1500">
                <a:solidFill>
                  <a:srgbClr val="333333"/>
                </a:solidFill>
                <a:latin typeface="Microsoft JhengHei" panose="020B0604030504040204" pitchFamily="34" charset="-120"/>
              </a:rPr>
              <a:t>工具目的</a:t>
            </a:r>
            <a:r>
              <a:rPr lang="en-US" altLang="zh-TW" sz="1500">
                <a:solidFill>
                  <a:srgbClr val="333333"/>
                </a:solidFill>
                <a:latin typeface="Microsoft JhengHei" panose="020B0604030504040204" pitchFamily="34" charset="-120"/>
              </a:rPr>
              <a:t>】
• </a:t>
            </a:r>
            <a:r>
              <a:rPr lang="zh-TW" altLang="en-US" sz="1500">
                <a:solidFill>
                  <a:srgbClr val="333333"/>
                </a:solidFill>
                <a:latin typeface="Microsoft JhengHei" panose="020B0604030504040204" pitchFamily="34" charset="-120"/>
              </a:rPr>
              <a:t>批次將 </a:t>
            </a:r>
            <a:r>
              <a:rPr lang="en-US" altLang="zh-TW" sz="1500">
                <a:solidFill>
                  <a:srgbClr val="333333"/>
                </a:solidFill>
                <a:latin typeface="Microsoft JhengHei" panose="020B0604030504040204" pitchFamily="34" charset="-120"/>
              </a:rPr>
              <a:t>Microsoft Office 97–2003 </a:t>
            </a:r>
            <a:r>
              <a:rPr lang="zh-TW" altLang="en-US" sz="1500">
                <a:solidFill>
                  <a:srgbClr val="333333"/>
                </a:solidFill>
                <a:latin typeface="Microsoft JhengHei" panose="020B0604030504040204" pitchFamily="34" charset="-120"/>
              </a:rPr>
              <a:t>舊格式檔案轉換為 </a:t>
            </a:r>
            <a:r>
              <a:rPr lang="en-US" altLang="zh-TW" sz="1500">
                <a:solidFill>
                  <a:srgbClr val="333333"/>
                </a:solidFill>
                <a:latin typeface="Microsoft JhengHei" panose="020B0604030504040204" pitchFamily="34" charset="-120"/>
              </a:rPr>
              <a:t>Open XML </a:t>
            </a:r>
            <a:r>
              <a:rPr lang="zh-TW" altLang="en-US" sz="1500">
                <a:solidFill>
                  <a:srgbClr val="333333"/>
                </a:solidFill>
                <a:latin typeface="Microsoft JhengHei" panose="020B0604030504040204" pitchFamily="34" charset="-120"/>
              </a:rPr>
              <a:t>格式
</a:t>
            </a:r>
            <a:r>
              <a:rPr lang="en-US" altLang="zh-TW" sz="15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500">
                <a:solidFill>
                  <a:srgbClr val="333333"/>
                </a:solidFill>
                <a:latin typeface="Microsoft JhengHei" panose="020B0604030504040204" pitchFamily="34" charset="-120"/>
              </a:rPr>
              <a:t>解決舊版 </a:t>
            </a:r>
            <a:r>
              <a:rPr lang="en-US" altLang="zh-TW" sz="1500">
                <a:solidFill>
                  <a:srgbClr val="333333"/>
                </a:solidFill>
                <a:latin typeface="Microsoft JhengHei" panose="020B0604030504040204" pitchFamily="34" charset="-120"/>
              </a:rPr>
              <a:t>.doc / .xls / .ppt </a:t>
            </a:r>
            <a:r>
              <a:rPr lang="zh-TW" altLang="en-US" sz="1500">
                <a:solidFill>
                  <a:srgbClr val="333333"/>
                </a:solidFill>
                <a:latin typeface="Microsoft JhengHei" panose="020B0604030504040204" pitchFamily="34" charset="-120"/>
              </a:rPr>
              <a:t>在新版 </a:t>
            </a:r>
            <a:r>
              <a:rPr lang="en-US" altLang="zh-TW" sz="1500">
                <a:solidFill>
                  <a:srgbClr val="333333"/>
                </a:solidFill>
                <a:latin typeface="Microsoft JhengHei" panose="020B0604030504040204" pitchFamily="34" charset="-120"/>
              </a:rPr>
              <a:t>Office </a:t>
            </a:r>
            <a:r>
              <a:rPr lang="zh-TW" altLang="en-US" sz="1500">
                <a:solidFill>
                  <a:srgbClr val="333333"/>
                </a:solidFill>
                <a:latin typeface="Microsoft JhengHei" panose="020B0604030504040204" pitchFamily="34" charset="-120"/>
              </a:rPr>
              <a:t>或雲端服務中相容性問題
</a:t>
            </a:r>
            <a:r>
              <a:rPr lang="en-US" altLang="zh-TW" sz="15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500">
                <a:solidFill>
                  <a:srgbClr val="333333"/>
                </a:solidFill>
                <a:latin typeface="Microsoft JhengHei" panose="020B0604030504040204" pitchFamily="34" charset="-120"/>
              </a:rPr>
              <a:t>透過 </a:t>
            </a:r>
            <a:r>
              <a:rPr lang="en-US" altLang="zh-TW" sz="1500">
                <a:solidFill>
                  <a:srgbClr val="333333"/>
                </a:solidFill>
                <a:latin typeface="Microsoft JhengHei" panose="020B0604030504040204" pitchFamily="34" charset="-120"/>
              </a:rPr>
              <a:t>COM </a:t>
            </a:r>
            <a:r>
              <a:rPr lang="zh-TW" altLang="en-US" sz="1500">
                <a:solidFill>
                  <a:srgbClr val="333333"/>
                </a:solidFill>
                <a:latin typeface="Microsoft JhengHei" panose="020B0604030504040204" pitchFamily="34" charset="-120"/>
              </a:rPr>
              <a:t>自動化呼叫本機已安裝的 </a:t>
            </a:r>
            <a:r>
              <a:rPr lang="en-US" altLang="zh-TW" sz="1500">
                <a:solidFill>
                  <a:srgbClr val="333333"/>
                </a:solidFill>
                <a:latin typeface="Microsoft JhengHei" panose="020B0604030504040204" pitchFamily="34" charset="-120"/>
              </a:rPr>
              <a:t>Word</a:t>
            </a:r>
            <a:r>
              <a:rPr lang="zh-TW" altLang="en-US" sz="1500">
                <a:solidFill>
                  <a:srgbClr val="333333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333333"/>
                </a:solidFill>
                <a:latin typeface="Microsoft JhengHei" panose="020B0604030504040204" pitchFamily="34" charset="-120"/>
              </a:rPr>
              <a:t>Excel</a:t>
            </a:r>
            <a:r>
              <a:rPr lang="zh-TW" altLang="en-US" sz="1500">
                <a:solidFill>
                  <a:srgbClr val="333333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333333"/>
                </a:solidFill>
                <a:latin typeface="Microsoft JhengHei" panose="020B0604030504040204" pitchFamily="34" charset="-120"/>
              </a:rPr>
              <a:t>PowerPoint </a:t>
            </a:r>
            <a:r>
              <a:rPr lang="zh-TW" altLang="en-US" sz="1500">
                <a:solidFill>
                  <a:srgbClr val="333333"/>
                </a:solidFill>
                <a:latin typeface="Microsoft JhengHei" panose="020B0604030504040204" pitchFamily="34" charset="-120"/>
              </a:rPr>
              <a:t>進行轉換
</a:t>
            </a:r>
            <a:r>
              <a:rPr lang="en-US" altLang="zh-TW" sz="1500">
                <a:solidFill>
                  <a:srgbClr val="333333"/>
                </a:solidFill>
                <a:latin typeface="Microsoft JhengHei" panose="020B0604030504040204" pitchFamily="34" charset="-120"/>
              </a:rPr>
              <a:t>【</a:t>
            </a:r>
            <a:r>
              <a:rPr lang="zh-TW" altLang="en-US" sz="1500">
                <a:solidFill>
                  <a:srgbClr val="333333"/>
                </a:solidFill>
                <a:latin typeface="Microsoft JhengHei" panose="020B0604030504040204" pitchFamily="34" charset="-120"/>
              </a:rPr>
              <a:t>適用範圍</a:t>
            </a:r>
            <a:r>
              <a:rPr lang="en-US" altLang="zh-TW" sz="1500">
                <a:solidFill>
                  <a:srgbClr val="333333"/>
                </a:solidFill>
                <a:latin typeface="Microsoft JhengHei" panose="020B0604030504040204" pitchFamily="34" charset="-120"/>
              </a:rPr>
              <a:t>】
• </a:t>
            </a:r>
            <a:r>
              <a:rPr lang="zh-TW" altLang="en-US" sz="1500">
                <a:solidFill>
                  <a:srgbClr val="333333"/>
                </a:solidFill>
                <a:latin typeface="Microsoft JhengHei" panose="020B0604030504040204" pitchFamily="34" charset="-120"/>
              </a:rPr>
              <a:t>需將大量舊格式文件升級為現代格式的使用者
</a:t>
            </a:r>
            <a:r>
              <a:rPr lang="en-US" altLang="zh-TW" sz="15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500">
                <a:solidFill>
                  <a:srgbClr val="333333"/>
                </a:solidFill>
                <a:latin typeface="Microsoft JhengHei" panose="020B0604030504040204" pitchFamily="34" charset="-120"/>
              </a:rPr>
              <a:t>檔案來源為 </a:t>
            </a:r>
            <a:r>
              <a:rPr lang="en-US" altLang="zh-TW" sz="1500">
                <a:solidFill>
                  <a:srgbClr val="333333"/>
                </a:solidFill>
                <a:latin typeface="Microsoft JhengHei" panose="020B0604030504040204" pitchFamily="34" charset="-120"/>
              </a:rPr>
              <a:t>Word 97–2003</a:t>
            </a:r>
            <a:r>
              <a:rPr lang="zh-TW" altLang="en-US" sz="1500">
                <a:solidFill>
                  <a:srgbClr val="333333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333333"/>
                </a:solidFill>
                <a:latin typeface="Microsoft JhengHei" panose="020B0604030504040204" pitchFamily="34" charset="-120"/>
              </a:rPr>
              <a:t>Excel 97–2003</a:t>
            </a:r>
            <a:r>
              <a:rPr lang="zh-TW" altLang="en-US" sz="1500">
                <a:solidFill>
                  <a:srgbClr val="333333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333333"/>
                </a:solidFill>
                <a:latin typeface="Microsoft JhengHei" panose="020B0604030504040204" pitchFamily="34" charset="-120"/>
              </a:rPr>
              <a:t>PowerPoint 97–2003
• </a:t>
            </a:r>
            <a:r>
              <a:rPr lang="zh-TW" altLang="en-US" sz="1500">
                <a:solidFill>
                  <a:srgbClr val="333333"/>
                </a:solidFill>
                <a:latin typeface="Microsoft JhengHei" panose="020B0604030504040204" pitchFamily="34" charset="-120"/>
              </a:rPr>
              <a:t>轉換後檔案儲存於與原始檔相同目錄，副檔名自動變更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14DC966-6B65-4254-A34C-D7441D607880}"/>
              </a:ext>
            </a:extLst>
          </p:cNvPr>
          <p:cNvSpPr txBox="1"/>
          <p:nvPr/>
        </p:nvSpPr>
        <p:spPr>
          <a:xfrm>
            <a:off x="8128000" y="47879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TW" sz="1000">
                <a:solidFill>
                  <a:srgbClr val="999999"/>
                </a:solidFill>
                <a:latin typeface="Microsoft JhengHei" panose="020B0604030504040204" pitchFamily="34" charset="-120"/>
              </a:rPr>
              <a:t>3 / 15</a:t>
            </a:r>
            <a:endParaRPr lang="zh-TW" altLang="en-US" sz="1000">
              <a:solidFill>
                <a:srgbClr val="999999"/>
              </a:solidFill>
              <a:latin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45149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43E0D84-0F8A-4A9C-9FF8-59E4012AE873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2B579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rtlCol="0" anchor="ctr"/>
          <a:lstStyle/>
          <a:p>
            <a:pPr algn="ctr"/>
            <a:r>
              <a:rPr lang="zh-TW" altLang="en-US" sz="2200" b="1">
                <a:solidFill>
                  <a:srgbClr val="FFFFFF"/>
                </a:solidFill>
                <a:latin typeface="Microsoft JhengHei" panose="020B0604030504040204" pitchFamily="34" charset="-120"/>
              </a:rPr>
              <a:t>支援格式對照表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AA3FBF6-D858-4D90-8EDF-278E3B7D2D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113140"/>
              </p:ext>
            </p:extLst>
          </p:nvPr>
        </p:nvGraphicFramePr>
        <p:xfrm>
          <a:off x="381000" y="1143000"/>
          <a:ext cx="838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85191706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1388696312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3013941086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360230301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zh-TW" altLang="en-US" sz="1300" b="1">
                          <a:solidFill>
                            <a:srgbClr val="FFFFFF"/>
                          </a:solidFill>
                          <a:latin typeface="Microsoft JhengHei" panose="020B0604030504040204" pitchFamily="34" charset="-120"/>
                        </a:rPr>
                        <a:t>來源格式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300" b="1">
                          <a:solidFill>
                            <a:srgbClr val="FFFFFF"/>
                          </a:solidFill>
                          <a:latin typeface="Microsoft JhengHei" panose="020B0604030504040204" pitchFamily="34" charset="-120"/>
                        </a:rPr>
                        <a:t>目標格式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300" b="1">
                          <a:solidFill>
                            <a:srgbClr val="FFFFFF"/>
                          </a:solidFill>
                          <a:latin typeface="Microsoft JhengHei" panose="020B0604030504040204" pitchFamily="34" charset="-120"/>
                        </a:rPr>
                        <a:t>Office </a:t>
                      </a:r>
                      <a:r>
                        <a:rPr lang="zh-TW" altLang="en-US" sz="1300" b="1">
                          <a:solidFill>
                            <a:srgbClr val="FFFFFF"/>
                          </a:solidFill>
                          <a:latin typeface="Microsoft JhengHei" panose="020B0604030504040204" pitchFamily="34" charset="-120"/>
                        </a:rPr>
                        <a:t>應用程式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300" b="1">
                          <a:solidFill>
                            <a:srgbClr val="FFFFFF"/>
                          </a:solidFill>
                          <a:latin typeface="Microsoft JhengHei" panose="020B0604030504040204" pitchFamily="34" charset="-120"/>
                        </a:rPr>
                        <a:t>COM </a:t>
                      </a:r>
                      <a:r>
                        <a:rPr lang="zh-TW" altLang="en-US" sz="1300" b="1">
                          <a:solidFill>
                            <a:srgbClr val="FFFFFF"/>
                          </a:solidFill>
                          <a:latin typeface="Microsoft JhengHei" panose="020B0604030504040204" pitchFamily="34" charset="-120"/>
                        </a:rPr>
                        <a:t>格式代碼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9542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TW" sz="1200" b="0">
                          <a:latin typeface="Microsoft JhengHei" panose="020B0604030504040204" pitchFamily="34" charset="-120"/>
                        </a:rPr>
                        <a:t>.doc</a:t>
                      </a:r>
                      <a:endParaRPr lang="zh-TW" altLang="en-US" sz="1200" b="0">
                        <a:latin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b="0">
                          <a:latin typeface="Microsoft JhengHei" panose="020B0604030504040204" pitchFamily="34" charset="-120"/>
                        </a:rPr>
                        <a:t>.docx</a:t>
                      </a:r>
                      <a:endParaRPr lang="zh-TW" altLang="en-US" sz="1200" b="0">
                        <a:latin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b="0">
                          <a:latin typeface="Microsoft JhengHei" panose="020B0604030504040204" pitchFamily="34" charset="-120"/>
                        </a:rPr>
                        <a:t>Microsoft Word</a:t>
                      </a:r>
                      <a:endParaRPr lang="zh-TW" altLang="en-US" sz="1200" b="0">
                        <a:latin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b="0">
                          <a:latin typeface="Microsoft JhengHei" panose="020B0604030504040204" pitchFamily="34" charset="-120"/>
                        </a:rPr>
                        <a:t>12 (WdFormatXmlDocument)</a:t>
                      </a:r>
                      <a:endParaRPr lang="zh-TW" altLang="en-US" sz="1200" b="0">
                        <a:latin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78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TW" sz="1200" b="0">
                          <a:latin typeface="Microsoft JhengHei" panose="020B0604030504040204" pitchFamily="34" charset="-120"/>
                        </a:rPr>
                        <a:t>.xls</a:t>
                      </a:r>
                      <a:endParaRPr lang="zh-TW" altLang="en-US" sz="1200" b="0">
                        <a:latin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b="0">
                          <a:latin typeface="Microsoft JhengHei" panose="020B0604030504040204" pitchFamily="34" charset="-120"/>
                        </a:rPr>
                        <a:t>.xlsx</a:t>
                      </a:r>
                      <a:endParaRPr lang="zh-TW" altLang="en-US" sz="1200" b="0">
                        <a:latin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b="0">
                          <a:latin typeface="Microsoft JhengHei" panose="020B0604030504040204" pitchFamily="34" charset="-120"/>
                        </a:rPr>
                        <a:t>Microsoft Excel</a:t>
                      </a:r>
                      <a:endParaRPr lang="zh-TW" altLang="en-US" sz="1200" b="0">
                        <a:latin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b="0">
                          <a:latin typeface="Microsoft JhengHei" panose="020B0604030504040204" pitchFamily="34" charset="-120"/>
                        </a:rPr>
                        <a:t>51 (XlOpenXmlWorkbook)</a:t>
                      </a:r>
                      <a:endParaRPr lang="zh-TW" altLang="en-US" sz="1200" b="0">
                        <a:latin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36789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TW" sz="1200" b="0">
                          <a:latin typeface="Microsoft JhengHei" panose="020B0604030504040204" pitchFamily="34" charset="-120"/>
                        </a:rPr>
                        <a:t>.ppt</a:t>
                      </a:r>
                      <a:endParaRPr lang="zh-TW" altLang="en-US" sz="1200" b="0">
                        <a:latin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b="0">
                          <a:latin typeface="Microsoft JhengHei" panose="020B0604030504040204" pitchFamily="34" charset="-120"/>
                        </a:rPr>
                        <a:t>.pptx</a:t>
                      </a:r>
                      <a:endParaRPr lang="zh-TW" altLang="en-US" sz="1200" b="0">
                        <a:latin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b="0">
                          <a:latin typeface="Microsoft JhengHei" panose="020B0604030504040204" pitchFamily="34" charset="-120"/>
                        </a:rPr>
                        <a:t>Microsoft PowerPoint</a:t>
                      </a:r>
                      <a:endParaRPr lang="zh-TW" altLang="en-US" sz="1200" b="0">
                        <a:latin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b="0">
                          <a:latin typeface="Microsoft JhengHei" panose="020B0604030504040204" pitchFamily="34" charset="-120"/>
                        </a:rPr>
                        <a:t>24 (PpSaveAsOpenXmlPresentation)</a:t>
                      </a:r>
                      <a:endParaRPr lang="zh-TW" altLang="en-US" sz="1200" b="0">
                        <a:latin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35229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C92361C8-2636-48AA-8757-0F1A9F2762F4}"/>
              </a:ext>
            </a:extLst>
          </p:cNvPr>
          <p:cNvSpPr txBox="1"/>
          <p:nvPr/>
        </p:nvSpPr>
        <p:spPr>
          <a:xfrm>
            <a:off x="381000" y="3683000"/>
            <a:ext cx="8382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※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轉換採用 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SaveAs / SaveAs2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，保留原始檔內容與格式（依 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Office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引擎能力）。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17F79FC-CFB3-442B-A088-9F6BDE25673C}"/>
              </a:ext>
            </a:extLst>
          </p:cNvPr>
          <p:cNvSpPr txBox="1"/>
          <p:nvPr/>
        </p:nvSpPr>
        <p:spPr>
          <a:xfrm>
            <a:off x="8128000" y="47879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TW" sz="1000">
                <a:solidFill>
                  <a:srgbClr val="999999"/>
                </a:solidFill>
                <a:latin typeface="Microsoft JhengHei" panose="020B0604030504040204" pitchFamily="34" charset="-120"/>
              </a:rPr>
              <a:t>4 / 15</a:t>
            </a:r>
            <a:endParaRPr lang="zh-TW" altLang="en-US" sz="1000">
              <a:solidFill>
                <a:srgbClr val="999999"/>
              </a:solidFill>
              <a:latin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9992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55CA1F-6C41-4357-8676-65BEC865B099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2B579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rtlCol="0" anchor="ctr"/>
          <a:lstStyle/>
          <a:p>
            <a:pPr algn="ctr"/>
            <a:r>
              <a:rPr lang="en-US" altLang="zh-TW" sz="2200" b="1">
                <a:solidFill>
                  <a:srgbClr val="FFFFFF"/>
                </a:solidFill>
                <a:latin typeface="Microsoft JhengHei" panose="020B0604030504040204" pitchFamily="34" charset="-120"/>
              </a:rPr>
              <a:t>2. </a:t>
            </a:r>
            <a:r>
              <a:rPr lang="zh-TW" altLang="en-US" sz="2200" b="1">
                <a:solidFill>
                  <a:srgbClr val="FFFFFF"/>
                </a:solidFill>
                <a:latin typeface="Microsoft JhengHei" panose="020B0604030504040204" pitchFamily="34" charset="-120"/>
              </a:rPr>
              <a:t>系統需求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563409D-CA70-44C0-9D7C-735582BCB1B2}"/>
              </a:ext>
            </a:extLst>
          </p:cNvPr>
          <p:cNvSpPr txBox="1"/>
          <p:nvPr/>
        </p:nvSpPr>
        <p:spPr>
          <a:xfrm>
            <a:off x="381000" y="889000"/>
            <a:ext cx="8382000" cy="35394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【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作業系統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】
• Microsoft Windows 10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或以上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【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執行環境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】
• .NET 10.0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（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Windows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桌面執行階段）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• Windows Forms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應用程式（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WinExe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）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【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必要軟體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】
•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已安裝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Microsoft Word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（處理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.doc → .docx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）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已安裝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Microsoft Excel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（處理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.xls → .xlsx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）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已安裝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Microsoft PowerPoint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（處理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.ppt → .pptx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）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【COM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自動化說明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】
•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透過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ProgID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啟動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Office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應用程式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轉換期間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Office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在背景執行（可選擇顯示視窗以輸入密碼）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需確保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Office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已正確安裝且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COM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元件可正常註冊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5C975BA-48FB-495D-B9A2-A6A64FC4FBC4}"/>
              </a:ext>
            </a:extLst>
          </p:cNvPr>
          <p:cNvSpPr txBox="1"/>
          <p:nvPr/>
        </p:nvSpPr>
        <p:spPr>
          <a:xfrm>
            <a:off x="8128000" y="47879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TW" sz="1000">
                <a:solidFill>
                  <a:srgbClr val="999999"/>
                </a:solidFill>
                <a:latin typeface="Microsoft JhengHei" panose="020B0604030504040204" pitchFamily="34" charset="-120"/>
              </a:rPr>
              <a:t>5 / 15</a:t>
            </a:r>
            <a:endParaRPr lang="zh-TW" altLang="en-US" sz="1000">
              <a:solidFill>
                <a:srgbClr val="999999"/>
              </a:solidFill>
              <a:latin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87081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18BE5F4-C05E-44EB-9FAA-AF6DD93F7829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2B579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rtlCol="0" anchor="ctr"/>
          <a:lstStyle/>
          <a:p>
            <a:pPr algn="ctr"/>
            <a:r>
              <a:rPr lang="en-US" altLang="zh-TW" sz="2200" b="1">
                <a:solidFill>
                  <a:srgbClr val="FFFFFF"/>
                </a:solidFill>
                <a:latin typeface="Microsoft JhengHei" panose="020B0604030504040204" pitchFamily="34" charset="-120"/>
              </a:rPr>
              <a:t>3. </a:t>
            </a:r>
            <a:r>
              <a:rPr lang="zh-TW" altLang="en-US" sz="2200" b="1">
                <a:solidFill>
                  <a:srgbClr val="FFFFFF"/>
                </a:solidFill>
                <a:latin typeface="Microsoft JhengHei" panose="020B0604030504040204" pitchFamily="34" charset="-120"/>
              </a:rPr>
              <a:t>安裝與啟動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4D1312A-79A9-4C3D-B40E-F2C9A5865152}"/>
              </a:ext>
            </a:extLst>
          </p:cNvPr>
          <p:cNvSpPr txBox="1"/>
          <p:nvPr/>
        </p:nvSpPr>
        <p:spPr>
          <a:xfrm>
            <a:off x="381000" y="889000"/>
            <a:ext cx="8382000" cy="33239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【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專案路徑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】
•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原始碼目錄：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d:\VS\Doc2Docx
【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建置方式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】
1.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開啟終端機，切換至專案目錄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2.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執行：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dotnet build
3.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建置成功後，執行檔位於：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bin\Debug\net10.0-windows\OfficeLegacyConverter.exe
【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執行方式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】
•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方式一：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dotnet run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（於專案目錄執行）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方式二：直接雙擊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OfficeLegacyConverter.exe
【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注意事項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】
•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首次執行前請確認已安裝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.NET 10 SDK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或執行階段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建議以系統管理員權限執行（若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Office COM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權限受限）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59EDE08-21B3-450E-A998-CF20DA7038E5}"/>
              </a:ext>
            </a:extLst>
          </p:cNvPr>
          <p:cNvSpPr txBox="1"/>
          <p:nvPr/>
        </p:nvSpPr>
        <p:spPr>
          <a:xfrm>
            <a:off x="8128000" y="47879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TW" sz="1000">
                <a:solidFill>
                  <a:srgbClr val="999999"/>
                </a:solidFill>
                <a:latin typeface="Microsoft JhengHei" panose="020B0604030504040204" pitchFamily="34" charset="-120"/>
              </a:rPr>
              <a:t>6 / 15</a:t>
            </a:r>
            <a:endParaRPr lang="zh-TW" altLang="en-US" sz="1000">
              <a:solidFill>
                <a:srgbClr val="999999"/>
              </a:solidFill>
              <a:latin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9346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D0E6BE4-E928-43A0-A6F9-E53D60608242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2B579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rtlCol="0" anchor="ctr"/>
          <a:lstStyle/>
          <a:p>
            <a:pPr algn="ctr"/>
            <a:r>
              <a:rPr lang="en-US" altLang="zh-TW" sz="2200" b="1">
                <a:solidFill>
                  <a:srgbClr val="FFFFFF"/>
                </a:solidFill>
                <a:latin typeface="Microsoft JhengHei" panose="020B0604030504040204" pitchFamily="34" charset="-120"/>
              </a:rPr>
              <a:t>4. </a:t>
            </a:r>
            <a:r>
              <a:rPr lang="zh-TW" altLang="en-US" sz="2200" b="1">
                <a:solidFill>
                  <a:srgbClr val="FFFFFF"/>
                </a:solidFill>
                <a:latin typeface="Microsoft JhengHei" panose="020B0604030504040204" pitchFamily="34" charset="-120"/>
              </a:rPr>
              <a:t>使用者介面總覽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52A9821-B292-41AD-8260-9D8489C81766}"/>
              </a:ext>
            </a:extLst>
          </p:cNvPr>
          <p:cNvSpPr txBox="1"/>
          <p:nvPr/>
        </p:nvSpPr>
        <p:spPr>
          <a:xfrm>
            <a:off x="381000" y="889000"/>
            <a:ext cx="8382000" cy="224676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主視窗標題：「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Office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舊格式轉換器」（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696 × 572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像素）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【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區域配置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】
① TabControl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分頁列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—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三個分頁：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DOC→DOCX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XLS→XLSX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PPT→PPTX
②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檔案清單（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ListBox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）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—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顯示待轉換檔案完整路徑，支援多選與拖放
③ 右側按鈕區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—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加入檔案、加入資料夾、移除選取、全部清除
④ 選項區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—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刪除原始檔、顯示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Office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視窗（兩個核取方塊）
⑤ 操作按鈕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—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開始轉換、取消
⑥ 進度列與狀態標籤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—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顯示轉換進度（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N /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總數）
⑦ 日誌文字方塊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—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唯讀，記錄每個檔案的處理結果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67A14E1-7DAC-430F-B965-D3C996B2BE9C}"/>
              </a:ext>
            </a:extLst>
          </p:cNvPr>
          <p:cNvSpPr txBox="1"/>
          <p:nvPr/>
        </p:nvSpPr>
        <p:spPr>
          <a:xfrm>
            <a:off x="8128000" y="47879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TW" sz="1000">
                <a:solidFill>
                  <a:srgbClr val="999999"/>
                </a:solidFill>
                <a:latin typeface="Microsoft JhengHei" panose="020B0604030504040204" pitchFamily="34" charset="-120"/>
              </a:rPr>
              <a:t>7 / 15</a:t>
            </a:r>
            <a:endParaRPr lang="zh-TW" altLang="en-US" sz="1000">
              <a:solidFill>
                <a:srgbClr val="999999"/>
              </a:solidFill>
              <a:latin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14051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5DC3A5E-6CFD-4B0F-8325-9DE7411338EA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2B579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rtlCol="0" anchor="ctr"/>
          <a:lstStyle/>
          <a:p>
            <a:pPr algn="ctr"/>
            <a:r>
              <a:rPr lang="en-US" altLang="zh-TW" sz="2200" b="1">
                <a:solidFill>
                  <a:srgbClr val="FFFFFF"/>
                </a:solidFill>
                <a:latin typeface="Microsoft JhengHei" panose="020B0604030504040204" pitchFamily="34" charset="-120"/>
              </a:rPr>
              <a:t>4. </a:t>
            </a:r>
            <a:r>
              <a:rPr lang="zh-TW" altLang="en-US" sz="2200" b="1">
                <a:solidFill>
                  <a:srgbClr val="FFFFFF"/>
                </a:solidFill>
                <a:latin typeface="Microsoft JhengHei" panose="020B0604030504040204" pitchFamily="34" charset="-120"/>
              </a:rPr>
              <a:t>使用者介面 </a:t>
            </a:r>
            <a:r>
              <a:rPr lang="en-US" altLang="zh-TW" sz="2200" b="1">
                <a:solidFill>
                  <a:srgbClr val="FFFFFF"/>
                </a:solidFill>
                <a:latin typeface="Microsoft JhengHei" panose="020B0604030504040204" pitchFamily="34" charset="-120"/>
              </a:rPr>
              <a:t>— </a:t>
            </a:r>
            <a:r>
              <a:rPr lang="zh-TW" altLang="en-US" sz="2200" b="1">
                <a:solidFill>
                  <a:srgbClr val="FFFFFF"/>
                </a:solidFill>
                <a:latin typeface="Microsoft JhengHei" panose="020B0604030504040204" pitchFamily="34" charset="-120"/>
              </a:rPr>
              <a:t>版面配置圖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3A3053D-10D1-4D8C-97C4-BBE9604AADBB}"/>
              </a:ext>
            </a:extLst>
          </p:cNvPr>
          <p:cNvSpPr/>
          <p:nvPr/>
        </p:nvSpPr>
        <p:spPr>
          <a:xfrm>
            <a:off x="381000" y="825500"/>
            <a:ext cx="6350000" cy="3937000"/>
          </a:xfrm>
          <a:prstGeom prst="rect">
            <a:avLst/>
          </a:prstGeom>
          <a:solidFill>
            <a:srgbClr val="F5F5F5"/>
          </a:solidFill>
          <a:ln w="190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AC72EB-91DA-461F-A350-A023EFE1D75B}"/>
              </a:ext>
            </a:extLst>
          </p:cNvPr>
          <p:cNvSpPr/>
          <p:nvPr/>
        </p:nvSpPr>
        <p:spPr>
          <a:xfrm>
            <a:off x="381000" y="825500"/>
            <a:ext cx="6350000" cy="279400"/>
          </a:xfrm>
          <a:prstGeom prst="rect">
            <a:avLst/>
          </a:prstGeom>
          <a:solidFill>
            <a:srgbClr val="2B579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b="1">
                <a:solidFill>
                  <a:srgbClr val="FFFFFF"/>
                </a:solidFill>
                <a:latin typeface="Microsoft JhengHei" panose="020B0604030504040204" pitchFamily="34" charset="-120"/>
              </a:rPr>
              <a:t>Office </a:t>
            </a:r>
            <a:r>
              <a:rPr lang="zh-TW" altLang="en-US" sz="900" b="1">
                <a:solidFill>
                  <a:srgbClr val="FFFFFF"/>
                </a:solidFill>
                <a:latin typeface="Microsoft JhengHei" panose="020B0604030504040204" pitchFamily="34" charset="-120"/>
              </a:rPr>
              <a:t>舊格式轉換器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610C033-CD22-45B4-B54D-234CCF4EE26C}"/>
              </a:ext>
            </a:extLst>
          </p:cNvPr>
          <p:cNvSpPr/>
          <p:nvPr/>
        </p:nvSpPr>
        <p:spPr>
          <a:xfrm>
            <a:off x="406400" y="1104900"/>
            <a:ext cx="13335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700">
                <a:solidFill>
                  <a:srgbClr val="333333"/>
                </a:solidFill>
                <a:latin typeface="Microsoft JhengHei" panose="020B0604030504040204" pitchFamily="34" charset="-120"/>
              </a:rPr>
              <a:t>DOC → DOCX</a:t>
            </a:r>
            <a:endParaRPr lang="zh-TW" altLang="en-US" sz="700">
              <a:solidFill>
                <a:srgbClr val="3333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F1F0912-DA9C-4C42-BF61-A8BCA908A6B3}"/>
              </a:ext>
            </a:extLst>
          </p:cNvPr>
          <p:cNvSpPr/>
          <p:nvPr/>
        </p:nvSpPr>
        <p:spPr>
          <a:xfrm>
            <a:off x="1803400" y="1104900"/>
            <a:ext cx="1333500" cy="228600"/>
          </a:xfrm>
          <a:prstGeom prst="rect">
            <a:avLst/>
          </a:prstGeom>
          <a:solidFill>
            <a:srgbClr val="E0E0E0"/>
          </a:solidFill>
          <a:ln>
            <a:solidFill>
              <a:srgbClr val="AAA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700">
                <a:solidFill>
                  <a:srgbClr val="333333"/>
                </a:solidFill>
                <a:latin typeface="Microsoft JhengHei" panose="020B0604030504040204" pitchFamily="34" charset="-120"/>
              </a:rPr>
              <a:t>XLS → XLSX</a:t>
            </a:r>
            <a:endParaRPr lang="zh-TW" altLang="en-US" sz="700">
              <a:solidFill>
                <a:srgbClr val="3333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3A0950-8A46-414F-B6FD-A1241EE09E5E}"/>
              </a:ext>
            </a:extLst>
          </p:cNvPr>
          <p:cNvSpPr/>
          <p:nvPr/>
        </p:nvSpPr>
        <p:spPr>
          <a:xfrm>
            <a:off x="3200400" y="1104900"/>
            <a:ext cx="1333500" cy="228600"/>
          </a:xfrm>
          <a:prstGeom prst="rect">
            <a:avLst/>
          </a:prstGeom>
          <a:solidFill>
            <a:srgbClr val="E0E0E0"/>
          </a:solidFill>
          <a:ln>
            <a:solidFill>
              <a:srgbClr val="AAA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700">
                <a:solidFill>
                  <a:srgbClr val="333333"/>
                </a:solidFill>
                <a:latin typeface="Microsoft JhengHei" panose="020B0604030504040204" pitchFamily="34" charset="-120"/>
              </a:rPr>
              <a:t>PPT → PPTX</a:t>
            </a:r>
            <a:endParaRPr lang="zh-TW" altLang="en-US" sz="700">
              <a:solidFill>
                <a:srgbClr val="3333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CEB8CE1-5D3E-48B8-A8BA-7DB15BC1B32F}"/>
              </a:ext>
            </a:extLst>
          </p:cNvPr>
          <p:cNvSpPr txBox="1"/>
          <p:nvPr/>
        </p:nvSpPr>
        <p:spPr>
          <a:xfrm>
            <a:off x="431800" y="1371600"/>
            <a:ext cx="50800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700">
                <a:solidFill>
                  <a:srgbClr val="333333"/>
                </a:solidFill>
                <a:latin typeface="Microsoft JhengHei" panose="020B0604030504040204" pitchFamily="34" charset="-120"/>
              </a:rPr>
              <a:t>待轉換檔案（</a:t>
            </a:r>
            <a:r>
              <a:rPr lang="en-US" altLang="zh-TW" sz="700">
                <a:solidFill>
                  <a:srgbClr val="333333"/>
                </a:solidFill>
                <a:latin typeface="Microsoft JhengHei" panose="020B0604030504040204" pitchFamily="34" charset="-120"/>
              </a:rPr>
              <a:t>.doc</a:t>
            </a:r>
            <a:r>
              <a:rPr lang="zh-TW" altLang="en-US" sz="700">
                <a:solidFill>
                  <a:srgbClr val="333333"/>
                </a:solidFill>
                <a:latin typeface="Microsoft JhengHei" panose="020B0604030504040204" pitchFamily="34" charset="-120"/>
              </a:rPr>
              <a:t>）：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A56ED6-AE2F-4EF5-9A3B-0CB5127E9305}"/>
              </a:ext>
            </a:extLst>
          </p:cNvPr>
          <p:cNvSpPr/>
          <p:nvPr/>
        </p:nvSpPr>
        <p:spPr>
          <a:xfrm>
            <a:off x="431800" y="1574800"/>
            <a:ext cx="4826000" cy="15240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700">
                <a:solidFill>
                  <a:srgbClr val="555555"/>
                </a:solidFill>
                <a:latin typeface="Consolas" panose="020B0609020204030204" pitchFamily="49" charset="0"/>
              </a:rPr>
              <a:t>C:\Docs\report.doc
C:\Docs\budget.doc
</a:t>
            </a:r>
            <a:r>
              <a:rPr lang="zh-TW" altLang="en-US" sz="700">
                <a:solidFill>
                  <a:srgbClr val="555555"/>
                </a:solidFill>
                <a:latin typeface="Consolas" panose="020B0609020204030204" pitchFamily="49" charset="0"/>
              </a:rPr>
              <a:t>（支援拖放檔案或資料夾）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6281150-1AD1-49D8-B840-DF0C1976DD0B}"/>
              </a:ext>
            </a:extLst>
          </p:cNvPr>
          <p:cNvSpPr/>
          <p:nvPr/>
        </p:nvSpPr>
        <p:spPr>
          <a:xfrm>
            <a:off x="5334000" y="1574800"/>
            <a:ext cx="1270000" cy="279400"/>
          </a:xfrm>
          <a:prstGeom prst="rect">
            <a:avLst/>
          </a:prstGeom>
          <a:solidFill>
            <a:srgbClr val="E8E8E8"/>
          </a:solidFill>
          <a:ln>
            <a:solidFill>
              <a:srgbClr val="99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700">
                <a:solidFill>
                  <a:srgbClr val="333333"/>
                </a:solidFill>
                <a:latin typeface="Microsoft JhengHei" panose="020B0604030504040204" pitchFamily="34" charset="-120"/>
              </a:rPr>
              <a:t>加入檔案</a:t>
            </a:r>
            <a:r>
              <a:rPr lang="en-US" altLang="zh-TW" sz="700">
                <a:solidFill>
                  <a:srgbClr val="333333"/>
                </a:solidFill>
                <a:latin typeface="Microsoft JhengHei" panose="020B0604030504040204" pitchFamily="34" charset="-120"/>
              </a:rPr>
              <a:t>...</a:t>
            </a:r>
            <a:endParaRPr lang="zh-TW" altLang="en-US" sz="700">
              <a:solidFill>
                <a:srgbClr val="3333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97B6647-2E49-4F0D-8574-99BD17B3031E}"/>
              </a:ext>
            </a:extLst>
          </p:cNvPr>
          <p:cNvSpPr/>
          <p:nvPr/>
        </p:nvSpPr>
        <p:spPr>
          <a:xfrm>
            <a:off x="5334000" y="1930400"/>
            <a:ext cx="1270000" cy="279400"/>
          </a:xfrm>
          <a:prstGeom prst="rect">
            <a:avLst/>
          </a:prstGeom>
          <a:solidFill>
            <a:srgbClr val="E8E8E8"/>
          </a:solidFill>
          <a:ln>
            <a:solidFill>
              <a:srgbClr val="99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700">
                <a:solidFill>
                  <a:srgbClr val="333333"/>
                </a:solidFill>
                <a:latin typeface="Microsoft JhengHei" panose="020B0604030504040204" pitchFamily="34" charset="-120"/>
              </a:rPr>
              <a:t>加入資料夾</a:t>
            </a:r>
            <a:r>
              <a:rPr lang="en-US" altLang="zh-TW" sz="700">
                <a:solidFill>
                  <a:srgbClr val="333333"/>
                </a:solidFill>
                <a:latin typeface="Microsoft JhengHei" panose="020B0604030504040204" pitchFamily="34" charset="-120"/>
              </a:rPr>
              <a:t>...</a:t>
            </a:r>
            <a:endParaRPr lang="zh-TW" altLang="en-US" sz="700">
              <a:solidFill>
                <a:srgbClr val="3333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F3455EC-4624-467C-8C14-C8C47B84DDA4}"/>
              </a:ext>
            </a:extLst>
          </p:cNvPr>
          <p:cNvSpPr/>
          <p:nvPr/>
        </p:nvSpPr>
        <p:spPr>
          <a:xfrm>
            <a:off x="5334000" y="2286000"/>
            <a:ext cx="1270000" cy="279400"/>
          </a:xfrm>
          <a:prstGeom prst="rect">
            <a:avLst/>
          </a:prstGeom>
          <a:solidFill>
            <a:srgbClr val="E8E8E8"/>
          </a:solidFill>
          <a:ln>
            <a:solidFill>
              <a:srgbClr val="99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700">
                <a:solidFill>
                  <a:srgbClr val="333333"/>
                </a:solidFill>
                <a:latin typeface="Microsoft JhengHei" panose="020B0604030504040204" pitchFamily="34" charset="-120"/>
              </a:rPr>
              <a:t>移除選取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B36B108-4D70-47BE-8112-1DA9CD0F2469}"/>
              </a:ext>
            </a:extLst>
          </p:cNvPr>
          <p:cNvSpPr/>
          <p:nvPr/>
        </p:nvSpPr>
        <p:spPr>
          <a:xfrm>
            <a:off x="5334000" y="2641600"/>
            <a:ext cx="1270000" cy="279400"/>
          </a:xfrm>
          <a:prstGeom prst="rect">
            <a:avLst/>
          </a:prstGeom>
          <a:solidFill>
            <a:srgbClr val="E8E8E8"/>
          </a:solidFill>
          <a:ln>
            <a:solidFill>
              <a:srgbClr val="99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700">
                <a:solidFill>
                  <a:srgbClr val="333333"/>
                </a:solidFill>
                <a:latin typeface="Microsoft JhengHei" panose="020B0604030504040204" pitchFamily="34" charset="-120"/>
              </a:rPr>
              <a:t>全部清除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3227AAA-0A39-43EA-B281-D60CDB9174C8}"/>
              </a:ext>
            </a:extLst>
          </p:cNvPr>
          <p:cNvSpPr txBox="1"/>
          <p:nvPr/>
        </p:nvSpPr>
        <p:spPr>
          <a:xfrm>
            <a:off x="431800" y="3200400"/>
            <a:ext cx="50800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700">
                <a:solidFill>
                  <a:srgbClr val="333333"/>
                </a:solidFill>
                <a:latin typeface="Microsoft JhengHei" panose="020B0604030504040204" pitchFamily="34" charset="-120"/>
              </a:rPr>
              <a:t>☐ 轉換完成後刪除原始 </a:t>
            </a:r>
            <a:r>
              <a:rPr lang="en-US" altLang="zh-TW" sz="700">
                <a:solidFill>
                  <a:srgbClr val="333333"/>
                </a:solidFill>
                <a:latin typeface="Microsoft JhengHei" panose="020B0604030504040204" pitchFamily="34" charset="-120"/>
              </a:rPr>
              <a:t>.doc </a:t>
            </a:r>
            <a:r>
              <a:rPr lang="zh-TW" altLang="en-US" sz="700">
                <a:solidFill>
                  <a:srgbClr val="333333"/>
                </a:solidFill>
                <a:latin typeface="Microsoft JhengHei" panose="020B0604030504040204" pitchFamily="34" charset="-120"/>
              </a:rPr>
              <a:t>檔案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795FB35-1369-4880-989B-42818B5E301A}"/>
              </a:ext>
            </a:extLst>
          </p:cNvPr>
          <p:cNvSpPr txBox="1"/>
          <p:nvPr/>
        </p:nvSpPr>
        <p:spPr>
          <a:xfrm>
            <a:off x="431800" y="3403600"/>
            <a:ext cx="50800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700">
                <a:solidFill>
                  <a:srgbClr val="333333"/>
                </a:solidFill>
                <a:latin typeface="Microsoft JhengHei" panose="020B0604030504040204" pitchFamily="34" charset="-120"/>
              </a:rPr>
              <a:t>☐ 顯示 </a:t>
            </a:r>
            <a:r>
              <a:rPr lang="en-US" altLang="zh-TW" sz="700">
                <a:solidFill>
                  <a:srgbClr val="333333"/>
                </a:solidFill>
                <a:latin typeface="Microsoft JhengHei" panose="020B0604030504040204" pitchFamily="34" charset="-120"/>
              </a:rPr>
              <a:t>Word </a:t>
            </a:r>
            <a:r>
              <a:rPr lang="zh-TW" altLang="en-US" sz="700">
                <a:solidFill>
                  <a:srgbClr val="333333"/>
                </a:solidFill>
                <a:latin typeface="Microsoft JhengHei" panose="020B0604030504040204" pitchFamily="34" charset="-120"/>
              </a:rPr>
              <a:t>視窗（密碼保護檔案時需要）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9CE65AB-03DC-432D-9CFE-7149372DA362}"/>
              </a:ext>
            </a:extLst>
          </p:cNvPr>
          <p:cNvSpPr/>
          <p:nvPr/>
        </p:nvSpPr>
        <p:spPr>
          <a:xfrm>
            <a:off x="431800" y="3683000"/>
            <a:ext cx="1016000" cy="304800"/>
          </a:xfrm>
          <a:prstGeom prst="rect">
            <a:avLst/>
          </a:prstGeom>
          <a:solidFill>
            <a:srgbClr val="2B579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800" b="1">
                <a:solidFill>
                  <a:srgbClr val="FFFFFF"/>
                </a:solidFill>
                <a:latin typeface="Microsoft JhengHei" panose="020B0604030504040204" pitchFamily="34" charset="-120"/>
              </a:rPr>
              <a:t>開始轉換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44E9D7E-4CB4-4FED-A4D2-7DB97921B3E1}"/>
              </a:ext>
            </a:extLst>
          </p:cNvPr>
          <p:cNvSpPr/>
          <p:nvPr/>
        </p:nvSpPr>
        <p:spPr>
          <a:xfrm>
            <a:off x="1524000" y="3683000"/>
            <a:ext cx="762000" cy="304800"/>
          </a:xfrm>
          <a:prstGeom prst="rect">
            <a:avLst/>
          </a:prstGeom>
          <a:solidFill>
            <a:srgbClr val="E0E0E0"/>
          </a:solidFill>
          <a:ln>
            <a:solidFill>
              <a:srgbClr val="99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800">
                <a:solidFill>
                  <a:srgbClr val="333333"/>
                </a:solidFill>
                <a:latin typeface="Microsoft JhengHei" panose="020B0604030504040204" pitchFamily="34" charset="-120"/>
              </a:rPr>
              <a:t>取消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791203B-AEAD-4E7D-8F91-F1E3AF2BFD0D}"/>
              </a:ext>
            </a:extLst>
          </p:cNvPr>
          <p:cNvSpPr/>
          <p:nvPr/>
        </p:nvSpPr>
        <p:spPr>
          <a:xfrm>
            <a:off x="431800" y="4089400"/>
            <a:ext cx="6172200" cy="1524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84BBCC6-B284-4374-A750-89F9A85281D9}"/>
              </a:ext>
            </a:extLst>
          </p:cNvPr>
          <p:cNvSpPr/>
          <p:nvPr/>
        </p:nvSpPr>
        <p:spPr>
          <a:xfrm>
            <a:off x="431800" y="4089400"/>
            <a:ext cx="2540000" cy="152400"/>
          </a:xfrm>
          <a:prstGeom prst="rect">
            <a:avLst/>
          </a:prstGeom>
          <a:solidFill>
            <a:srgbClr val="2B579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13BB7F0-C3F0-4DBB-8515-816C938FF039}"/>
              </a:ext>
            </a:extLst>
          </p:cNvPr>
          <p:cNvSpPr txBox="1"/>
          <p:nvPr/>
        </p:nvSpPr>
        <p:spPr>
          <a:xfrm>
            <a:off x="431800" y="4267200"/>
            <a:ext cx="50800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700">
                <a:solidFill>
                  <a:srgbClr val="333333"/>
                </a:solidFill>
                <a:latin typeface="Microsoft JhengHei" panose="020B0604030504040204" pitchFamily="34" charset="-120"/>
              </a:rPr>
              <a:t>2 / 5</a:t>
            </a:r>
            <a:endParaRPr lang="zh-TW" altLang="en-US" sz="700">
              <a:solidFill>
                <a:srgbClr val="3333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2B3AA18-CE6B-408D-A2E1-9F7CEED750BE}"/>
              </a:ext>
            </a:extLst>
          </p:cNvPr>
          <p:cNvSpPr/>
          <p:nvPr/>
        </p:nvSpPr>
        <p:spPr>
          <a:xfrm>
            <a:off x="431800" y="4470400"/>
            <a:ext cx="6172200" cy="2540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600">
                <a:solidFill>
                  <a:srgbClr val="555555"/>
                </a:solidFill>
                <a:latin typeface="Consolas" panose="020B0609020204030204" pitchFamily="49" charset="0"/>
              </a:rPr>
              <a:t>開啟 </a:t>
            </a:r>
            <a:r>
              <a:rPr lang="en-US" altLang="zh-TW" sz="600">
                <a:solidFill>
                  <a:srgbClr val="555555"/>
                </a:solidFill>
                <a:latin typeface="Consolas" panose="020B0609020204030204" pitchFamily="49" charset="0"/>
              </a:rPr>
              <a:t>C:\Docs\report.doc...
</a:t>
            </a:r>
            <a:r>
              <a:rPr lang="zh-TW" altLang="en-US" sz="600">
                <a:solidFill>
                  <a:srgbClr val="555555"/>
                </a:solidFill>
                <a:latin typeface="Consolas" panose="020B0609020204030204" pitchFamily="49" charset="0"/>
              </a:rPr>
              <a:t>完成：</a:t>
            </a:r>
            <a:r>
              <a:rPr lang="en-US" altLang="zh-TW" sz="600">
                <a:solidFill>
                  <a:srgbClr val="555555"/>
                </a:solidFill>
                <a:latin typeface="Consolas" panose="020B0609020204030204" pitchFamily="49" charset="0"/>
              </a:rPr>
              <a:t>report.doc → report.docx</a:t>
            </a:r>
            <a:endParaRPr lang="zh-TW" altLang="en-US" sz="600">
              <a:solidFill>
                <a:srgbClr val="555555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B72D7132-9120-4345-BF99-7AF335BA05D3}"/>
              </a:ext>
            </a:extLst>
          </p:cNvPr>
          <p:cNvSpPr txBox="1"/>
          <p:nvPr/>
        </p:nvSpPr>
        <p:spPr>
          <a:xfrm>
            <a:off x="6858000" y="889000"/>
            <a:ext cx="2159000" cy="12772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TW" altLang="en-US" sz="1100">
                <a:solidFill>
                  <a:srgbClr val="333333"/>
                </a:solidFill>
                <a:latin typeface="Microsoft JhengHei" panose="020B0604030504040204" pitchFamily="34" charset="-120"/>
              </a:rPr>
              <a:t>圖例說明：
</a:t>
            </a:r>
            <a:r>
              <a:rPr lang="en-US" altLang="zh-TW" sz="11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100">
                <a:solidFill>
                  <a:srgbClr val="333333"/>
                </a:solidFill>
                <a:latin typeface="Microsoft JhengHei" panose="020B0604030504040204" pitchFamily="34" charset="-120"/>
              </a:rPr>
              <a:t>切換分頁後，檔案清單與選項文字會依格式自動更新
</a:t>
            </a:r>
            <a:r>
              <a:rPr lang="en-US" altLang="zh-TW" sz="11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100">
                <a:solidFill>
                  <a:srgbClr val="333333"/>
                </a:solidFill>
                <a:latin typeface="Microsoft JhengHei" panose="020B0604030504040204" pitchFamily="34" charset="-120"/>
              </a:rPr>
              <a:t>三個 </a:t>
            </a:r>
            <a:r>
              <a:rPr lang="en-US" altLang="zh-TW" sz="1100">
                <a:solidFill>
                  <a:srgbClr val="333333"/>
                </a:solidFill>
                <a:latin typeface="Microsoft JhengHei" panose="020B0604030504040204" pitchFamily="34" charset="-120"/>
              </a:rPr>
              <a:t>ListBox </a:t>
            </a:r>
            <a:r>
              <a:rPr lang="zh-TW" altLang="en-US" sz="1100">
                <a:solidFill>
                  <a:srgbClr val="333333"/>
                </a:solidFill>
                <a:latin typeface="Microsoft JhengHei" panose="020B0604030504040204" pitchFamily="34" charset="-120"/>
              </a:rPr>
              <a:t>重疊於相同位置，僅顯示目前分頁對應的清單
</a:t>
            </a:r>
            <a:r>
              <a:rPr lang="en-US" altLang="zh-TW" sz="11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100">
                <a:solidFill>
                  <a:srgbClr val="333333"/>
                </a:solidFill>
                <a:latin typeface="Microsoft JhengHei" panose="020B0604030504040204" pitchFamily="34" charset="-120"/>
              </a:rPr>
              <a:t>轉換進行中會鎖定所有輸入控制項，僅「取消」可按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282A3623-9BFA-45F4-9CEB-E3A603D3FEEB}"/>
              </a:ext>
            </a:extLst>
          </p:cNvPr>
          <p:cNvSpPr txBox="1"/>
          <p:nvPr/>
        </p:nvSpPr>
        <p:spPr>
          <a:xfrm>
            <a:off x="8128000" y="47879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TW" sz="1000">
                <a:solidFill>
                  <a:srgbClr val="999999"/>
                </a:solidFill>
                <a:latin typeface="Microsoft JhengHei" panose="020B0604030504040204" pitchFamily="34" charset="-120"/>
              </a:rPr>
              <a:t>8 / 15</a:t>
            </a:r>
            <a:endParaRPr lang="zh-TW" altLang="en-US" sz="1000">
              <a:solidFill>
                <a:srgbClr val="999999"/>
              </a:solidFill>
              <a:latin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46571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040A970-CD61-4322-B8EF-D3F3E2DBCF1B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2B579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rtlCol="0" anchor="ctr"/>
          <a:lstStyle/>
          <a:p>
            <a:pPr algn="ctr"/>
            <a:r>
              <a:rPr lang="en-US" altLang="zh-TW" sz="2200" b="1">
                <a:solidFill>
                  <a:srgbClr val="FFFFFF"/>
                </a:solidFill>
                <a:latin typeface="Microsoft JhengHei" panose="020B0604030504040204" pitchFamily="34" charset="-120"/>
              </a:rPr>
              <a:t>5. </a:t>
            </a:r>
            <a:r>
              <a:rPr lang="zh-TW" altLang="en-US" sz="2200" b="1">
                <a:solidFill>
                  <a:srgbClr val="FFFFFF"/>
                </a:solidFill>
                <a:latin typeface="Microsoft JhengHei" panose="020B0604030504040204" pitchFamily="34" charset="-120"/>
              </a:rPr>
              <a:t>操作 </a:t>
            </a:r>
            <a:r>
              <a:rPr lang="en-US" altLang="zh-TW" sz="2200" b="1">
                <a:solidFill>
                  <a:srgbClr val="FFFFFF"/>
                </a:solidFill>
                <a:latin typeface="Microsoft JhengHei" panose="020B0604030504040204" pitchFamily="34" charset="-120"/>
              </a:rPr>
              <a:t>SOP — DOC → DOCX</a:t>
            </a:r>
            <a:endParaRPr lang="zh-TW" altLang="en-US" sz="220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2317B7D-20C0-4DDD-AD15-8EF6A976783F}"/>
              </a:ext>
            </a:extLst>
          </p:cNvPr>
          <p:cNvSpPr txBox="1"/>
          <p:nvPr/>
        </p:nvSpPr>
        <p:spPr>
          <a:xfrm>
            <a:off x="381000" y="889000"/>
            <a:ext cx="8382000" cy="246221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1.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啟動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OfficeLegacyConverter.exe
2.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確認位於「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DOC → DOCX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」分頁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3.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加入待轉換檔案（擇一或多種方式）：
  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點選「加入檔案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...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」選擇一或多個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.doc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檔案
  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點選「加入資料夾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...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」遞迴掃描資料夾內所有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.doc
   •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直接拖放檔案或資料夾至檔案清單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4.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檢視清單，必要時使用「移除選取」或「全部清除」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5.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依需求勾選進階選項（刪除原始檔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/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顯示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Word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視窗）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6.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點選「開始轉換」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7.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觀察進度列與日誌，等待「全部處理完成。」訊息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8.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至原始檔目錄確認已產生同名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.docx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檔案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99AE24F-25A0-48B1-9CDE-94BD7A04A395}"/>
              </a:ext>
            </a:extLst>
          </p:cNvPr>
          <p:cNvSpPr txBox="1"/>
          <p:nvPr/>
        </p:nvSpPr>
        <p:spPr>
          <a:xfrm>
            <a:off x="8128000" y="47879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TW" sz="1000">
                <a:solidFill>
                  <a:srgbClr val="999999"/>
                </a:solidFill>
                <a:latin typeface="Microsoft JhengHei" panose="020B0604030504040204" pitchFamily="34" charset="-120"/>
              </a:rPr>
              <a:t>9 / 15</a:t>
            </a:r>
            <a:endParaRPr lang="zh-TW" altLang="en-US" sz="1000">
              <a:solidFill>
                <a:srgbClr val="999999"/>
              </a:solidFill>
              <a:latin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57867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2AAEA70-BED6-4B3E-9A7B-CE4245AC439E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2B579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rtlCol="0" anchor="ctr"/>
          <a:lstStyle/>
          <a:p>
            <a:pPr algn="ctr"/>
            <a:r>
              <a:rPr lang="en-US" altLang="zh-TW" sz="2200" b="1">
                <a:solidFill>
                  <a:srgbClr val="FFFFFF"/>
                </a:solidFill>
                <a:latin typeface="Microsoft JhengHei" panose="020B0604030504040204" pitchFamily="34" charset="-120"/>
              </a:rPr>
              <a:t>6. </a:t>
            </a:r>
            <a:r>
              <a:rPr lang="zh-TW" altLang="en-US" sz="2200" b="1">
                <a:solidFill>
                  <a:srgbClr val="FFFFFF"/>
                </a:solidFill>
                <a:latin typeface="Microsoft JhengHei" panose="020B0604030504040204" pitchFamily="34" charset="-120"/>
              </a:rPr>
              <a:t>操作 </a:t>
            </a:r>
            <a:r>
              <a:rPr lang="en-US" altLang="zh-TW" sz="2200" b="1">
                <a:solidFill>
                  <a:srgbClr val="FFFFFF"/>
                </a:solidFill>
                <a:latin typeface="Microsoft JhengHei" panose="020B0604030504040204" pitchFamily="34" charset="-120"/>
              </a:rPr>
              <a:t>SOP — XLS → XLSX</a:t>
            </a:r>
            <a:endParaRPr lang="zh-TW" altLang="en-US" sz="220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55A672D-6F34-43EB-BE9A-3A11D4854648}"/>
              </a:ext>
            </a:extLst>
          </p:cNvPr>
          <p:cNvSpPr txBox="1"/>
          <p:nvPr/>
        </p:nvSpPr>
        <p:spPr>
          <a:xfrm>
            <a:off x="381000" y="889000"/>
            <a:ext cx="8382000" cy="246221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1.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啟動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OfficeLegacyConverter.exe
2.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確認位於「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XLS → XLSX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」分頁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3.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加入待轉換檔案（擇一或多種方式）：
  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點選「加入檔案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...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」選擇一或多個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.xls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檔案
  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點選「加入資料夾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...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」遞迴掃描資料夾內所有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.xls
   •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直接拖放檔案或資料夾至檔案清單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4.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檢視清單，必要時使用「移除選取」或「全部清除」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5.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依需求勾選進階選項（刪除原始檔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/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顯示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Excel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視窗）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6.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點選「開始轉換」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7.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觀察進度列與日誌，等待「全部處理完成。」訊息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8.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至原始檔目錄確認已產生同名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.xlsx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檔案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C06C572-A26A-482E-BC06-E49C08982A3F}"/>
              </a:ext>
            </a:extLst>
          </p:cNvPr>
          <p:cNvSpPr txBox="1"/>
          <p:nvPr/>
        </p:nvSpPr>
        <p:spPr>
          <a:xfrm>
            <a:off x="8128000" y="47879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TW" sz="1000">
                <a:solidFill>
                  <a:srgbClr val="999999"/>
                </a:solidFill>
                <a:latin typeface="Microsoft JhengHei" panose="020B0604030504040204" pitchFamily="34" charset="-120"/>
              </a:rPr>
              <a:t>10 / 15</a:t>
            </a:r>
            <a:endParaRPr lang="zh-TW" altLang="en-US" sz="1000">
              <a:solidFill>
                <a:srgbClr val="999999"/>
              </a:solidFill>
              <a:latin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8950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8B44FF0-259A-4003-879B-FB0B7A21594A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2B579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rtlCol="0" anchor="ctr"/>
          <a:lstStyle/>
          <a:p>
            <a:pPr algn="ctr"/>
            <a:r>
              <a:rPr lang="en-US" altLang="zh-TW" sz="2200" b="1">
                <a:solidFill>
                  <a:srgbClr val="FFFFFF"/>
                </a:solidFill>
                <a:latin typeface="Microsoft JhengHei" panose="020B0604030504040204" pitchFamily="34" charset="-120"/>
              </a:rPr>
              <a:t>7. </a:t>
            </a:r>
            <a:r>
              <a:rPr lang="zh-TW" altLang="en-US" sz="2200" b="1">
                <a:solidFill>
                  <a:srgbClr val="FFFFFF"/>
                </a:solidFill>
                <a:latin typeface="Microsoft JhengHei" panose="020B0604030504040204" pitchFamily="34" charset="-120"/>
              </a:rPr>
              <a:t>操作 </a:t>
            </a:r>
            <a:r>
              <a:rPr lang="en-US" altLang="zh-TW" sz="2200" b="1">
                <a:solidFill>
                  <a:srgbClr val="FFFFFF"/>
                </a:solidFill>
                <a:latin typeface="Microsoft JhengHei" panose="020B0604030504040204" pitchFamily="34" charset="-120"/>
              </a:rPr>
              <a:t>SOP — PPT → PPTX</a:t>
            </a:r>
            <a:endParaRPr lang="zh-TW" altLang="en-US" sz="220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473D3FE-564B-4D43-9904-0230368F4329}"/>
              </a:ext>
            </a:extLst>
          </p:cNvPr>
          <p:cNvSpPr txBox="1"/>
          <p:nvPr/>
        </p:nvSpPr>
        <p:spPr>
          <a:xfrm>
            <a:off x="381000" y="889000"/>
            <a:ext cx="8382000" cy="246221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1.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啟動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OfficeLegacyConverter.exe
2.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確認位於「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PPT → PPTX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」分頁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3.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加入待轉換檔案（擇一或多種方式）：
  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點選「加入檔案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...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」選擇一或多個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.ppt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檔案
  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點選「加入資料夾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...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」遞迴掃描資料夾內所有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.ppt
   •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直接拖放檔案或資料夾至檔案清單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4.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檢視清單，必要時使用「移除選取」或「全部清除」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5.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依需求勾選進階選項（刪除原始檔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/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顯示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PowerPoint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視窗）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6.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點選「開始轉換」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7.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觀察進度列與日誌，等待「全部處理完成。」訊息
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8.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至原始檔目錄確認已產生同名 </a:t>
            </a:r>
            <a:r>
              <a:rPr lang="en-US" altLang="zh-TW" sz="1400">
                <a:solidFill>
                  <a:srgbClr val="333333"/>
                </a:solidFill>
                <a:latin typeface="Microsoft JhengHei" panose="020B0604030504040204" pitchFamily="34" charset="-120"/>
              </a:rPr>
              <a:t>.pptx </a:t>
            </a:r>
            <a:r>
              <a:rPr lang="zh-TW" altLang="en-US" sz="1400">
                <a:solidFill>
                  <a:srgbClr val="333333"/>
                </a:solidFill>
                <a:latin typeface="Microsoft JhengHei" panose="020B0604030504040204" pitchFamily="34" charset="-120"/>
              </a:rPr>
              <a:t>檔案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F70AA0D-CA66-417B-92EE-6B84A0EC74CD}"/>
              </a:ext>
            </a:extLst>
          </p:cNvPr>
          <p:cNvSpPr txBox="1"/>
          <p:nvPr/>
        </p:nvSpPr>
        <p:spPr>
          <a:xfrm>
            <a:off x="8128000" y="47879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TW" sz="1000">
                <a:solidFill>
                  <a:srgbClr val="999999"/>
                </a:solidFill>
                <a:latin typeface="Microsoft JhengHei" panose="020B0604030504040204" pitchFamily="34" charset="-120"/>
              </a:rPr>
              <a:t>11 / 15</a:t>
            </a:r>
            <a:endParaRPr lang="zh-TW" altLang="en-US" sz="1000">
              <a:solidFill>
                <a:srgbClr val="999999"/>
              </a:solidFill>
              <a:latin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9710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58D3DB9-E1D2-43A7-A6EF-FE74BCC8154D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2B579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rtlCol="0" anchor="ctr"/>
          <a:lstStyle/>
          <a:p>
            <a:pPr algn="ctr"/>
            <a:r>
              <a:rPr lang="en-US" altLang="zh-TW" sz="2200" b="1">
                <a:solidFill>
                  <a:srgbClr val="FFFFFF"/>
                </a:solidFill>
                <a:latin typeface="Microsoft JhengHei" panose="020B0604030504040204" pitchFamily="34" charset="-120"/>
              </a:rPr>
              <a:t>8. </a:t>
            </a:r>
            <a:r>
              <a:rPr lang="zh-TW" altLang="en-US" sz="2200" b="1">
                <a:solidFill>
                  <a:srgbClr val="FFFFFF"/>
                </a:solidFill>
                <a:latin typeface="Microsoft JhengHei" panose="020B0604030504040204" pitchFamily="34" charset="-120"/>
              </a:rPr>
              <a:t>進階選項說明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8916545-2721-4C97-8AF5-86B62715C60F}"/>
              </a:ext>
            </a:extLst>
          </p:cNvPr>
          <p:cNvSpPr txBox="1"/>
          <p:nvPr/>
        </p:nvSpPr>
        <p:spPr>
          <a:xfrm>
            <a:off x="381000" y="889000"/>
            <a:ext cx="8382000" cy="36933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【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轉換完成後刪除原始檔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】
•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勾選後，成功轉換的舊格式檔案將被永久刪除
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點選「開始轉換」時會跳出警告對話框要求再次確認
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此操作無法復原，建議先備份重要檔案
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【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顯示 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Office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視窗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】
•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預設為背景執行（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Word/Excel/PowerPoint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不可見）
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若檔案設有密碼保護，需勾選此選項以手動輸入密碼
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分頁切換時，文字會自動顯示對應應用程式名稱
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【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拖放與批次加入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】
•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支援拖放單一檔案、多個檔案或整個資料夾
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拖放資料夾時會遞迴搜尋符合副檔名的檔案
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重複路徑會自動略過
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【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取消轉換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】
•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轉換進行中可點選「取消」中斷後續檔案處理
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已完成的檔案不受影響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FEB2DF1-4A03-4FB6-B5F0-06F641C09878}"/>
              </a:ext>
            </a:extLst>
          </p:cNvPr>
          <p:cNvSpPr txBox="1"/>
          <p:nvPr/>
        </p:nvSpPr>
        <p:spPr>
          <a:xfrm>
            <a:off x="8128000" y="47879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TW" sz="1000">
                <a:solidFill>
                  <a:srgbClr val="999999"/>
                </a:solidFill>
                <a:latin typeface="Microsoft JhengHei" panose="020B0604030504040204" pitchFamily="34" charset="-120"/>
              </a:rPr>
              <a:t>12 / 15</a:t>
            </a:r>
            <a:endParaRPr lang="zh-TW" altLang="en-US" sz="1000">
              <a:solidFill>
                <a:srgbClr val="999999"/>
              </a:solidFill>
              <a:latin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7042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1653270-B2AB-421A-94F3-B5076024F00D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2B579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rtlCol="0" anchor="ctr"/>
          <a:lstStyle/>
          <a:p>
            <a:pPr algn="ctr"/>
            <a:r>
              <a:rPr lang="en-US" altLang="zh-TW" sz="2200" b="1">
                <a:solidFill>
                  <a:srgbClr val="FFFFFF"/>
                </a:solidFill>
                <a:latin typeface="Microsoft JhengHei" panose="020B0604030504040204" pitchFamily="34" charset="-120"/>
              </a:rPr>
              <a:t>9. </a:t>
            </a:r>
            <a:r>
              <a:rPr lang="zh-TW" altLang="en-US" sz="2200" b="1">
                <a:solidFill>
                  <a:srgbClr val="FFFFFF"/>
                </a:solidFill>
                <a:latin typeface="Microsoft JhengHei" panose="020B0604030504040204" pitchFamily="34" charset="-120"/>
              </a:rPr>
              <a:t>錯誤排除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328FE41-2C1B-4B40-8C0F-B02CE31E7977}"/>
              </a:ext>
            </a:extLst>
          </p:cNvPr>
          <p:cNvSpPr txBox="1"/>
          <p:nvPr/>
        </p:nvSpPr>
        <p:spPr>
          <a:xfrm>
            <a:off x="381000" y="889000"/>
            <a:ext cx="8382000" cy="40934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【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找不到 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Word / Excel / PowerPoint】
•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錯誤訊息：「找不到 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Microsoft Word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，請確認已安裝。」
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解法：安裝對應 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Office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應用程式，或修復 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Office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安裝
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【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單一檔案失敗不影響其他檔案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】
•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每個檔案獨立 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try/catch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處理，失敗時記錄於日誌
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日誌格式：「錯誤 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- &lt;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路徑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&gt;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：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&lt;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錯誤訊息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&gt;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」
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批次轉換會繼續處理剩餘檔案
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【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密碼保護檔案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】
•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未勾選「顯示 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Office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視窗」時無法輸入密碼，轉換將失敗
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解法：勾選顯示視窗，於彈出的 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Office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對話框輸入密碼
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【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檔案被佔用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】
•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若檔案正被其他程序開啟，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Office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無法開啟該檔案
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解法：關閉佔用該檔案的程式後重試
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【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其他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】
•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磁碟空間不足、路徑過長、權限不足等亦可能導致失敗
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請查閱日誌區的詳細錯誤訊息以判斷原因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D0F5AD3-69DF-47CD-A555-89AAE6488B93}"/>
              </a:ext>
            </a:extLst>
          </p:cNvPr>
          <p:cNvSpPr txBox="1"/>
          <p:nvPr/>
        </p:nvSpPr>
        <p:spPr>
          <a:xfrm>
            <a:off x="8128000" y="47879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TW" sz="1000">
                <a:solidFill>
                  <a:srgbClr val="999999"/>
                </a:solidFill>
                <a:latin typeface="Microsoft JhengHei" panose="020B0604030504040204" pitchFamily="34" charset="-120"/>
              </a:rPr>
              <a:t>13 / 15</a:t>
            </a:r>
            <a:endParaRPr lang="zh-TW" altLang="en-US" sz="1000">
              <a:solidFill>
                <a:srgbClr val="999999"/>
              </a:solidFill>
              <a:latin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0081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B634282-3536-496B-9C0A-5E521C14E2F9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2B579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rtlCol="0" anchor="ctr"/>
          <a:lstStyle/>
          <a:p>
            <a:pPr algn="ctr"/>
            <a:r>
              <a:rPr lang="en-US" altLang="zh-TW" sz="2200" b="1">
                <a:solidFill>
                  <a:srgbClr val="FFFFFF"/>
                </a:solidFill>
                <a:latin typeface="Microsoft JhengHei" panose="020B0604030504040204" pitchFamily="34" charset="-120"/>
              </a:rPr>
              <a:t>10. </a:t>
            </a:r>
            <a:r>
              <a:rPr lang="zh-TW" altLang="en-US" sz="2200" b="1">
                <a:solidFill>
                  <a:srgbClr val="FFFFFF"/>
                </a:solidFill>
                <a:latin typeface="Microsoft JhengHei" panose="020B0604030504040204" pitchFamily="34" charset="-120"/>
              </a:rPr>
              <a:t>技術架構簡介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81B4F49-83C6-4574-9AA6-936E18FBB584}"/>
              </a:ext>
            </a:extLst>
          </p:cNvPr>
          <p:cNvSpPr txBox="1"/>
          <p:nvPr/>
        </p:nvSpPr>
        <p:spPr>
          <a:xfrm>
            <a:off x="381000" y="889000"/>
            <a:ext cx="8382000" cy="34932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【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專案結構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】
• Program.cs —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應用程式進入點，啟動 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MainForm
• MainForm.cs / MainForm.Designer.cs —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主視窗 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UI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與事件處理
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• WordConverter.cs — Word COM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轉換（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.doc → .docx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）
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• ExcelConverter.cs — Excel COM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轉換（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.xls → .xlsx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）
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• PowerPointConverter.cs — PowerPoint COM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轉換（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.ppt → .pptx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）
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【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轉換流程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】
1.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透過 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Type.GetTypeFromProgID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取得 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Office COM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類型
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2. Activator.CreateInstance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啟動 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Office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應用程式
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3.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逐一開啟檔案 → 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SaveAs/SaveAs2 →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關閉文件
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4.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可選刪除原始檔，最後 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Quit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並 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ReleaseComObject
【COM 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格式代碼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】
• Word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：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12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（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WdFormatXmlDocument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）
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• Excel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：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51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（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XlOpenXmlWorkbook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）
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• PowerPoint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：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24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（</a:t>
            </a:r>
            <a:r>
              <a:rPr lang="en-US" altLang="zh-TW" sz="1300">
                <a:solidFill>
                  <a:srgbClr val="333333"/>
                </a:solidFill>
                <a:latin typeface="Microsoft JhengHei" panose="020B0604030504040204" pitchFamily="34" charset="-120"/>
              </a:rPr>
              <a:t>PpSaveAsOpenXmlPresentation</a:t>
            </a:r>
            <a:r>
              <a:rPr lang="zh-TW" altLang="en-US" sz="1300">
                <a:solidFill>
                  <a:srgbClr val="333333"/>
                </a:solidFill>
                <a:latin typeface="Microsoft JhengHei" panose="020B0604030504040204" pitchFamily="34" charset="-120"/>
              </a:rPr>
              <a:t>）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2C99453-29E0-4106-BE17-48B8F7E80CC8}"/>
              </a:ext>
            </a:extLst>
          </p:cNvPr>
          <p:cNvSpPr txBox="1"/>
          <p:nvPr/>
        </p:nvSpPr>
        <p:spPr>
          <a:xfrm>
            <a:off x="8128000" y="47879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TW" sz="1000">
                <a:solidFill>
                  <a:srgbClr val="999999"/>
                </a:solidFill>
                <a:latin typeface="Microsoft JhengHei" panose="020B0604030504040204" pitchFamily="34" charset="-120"/>
              </a:rPr>
              <a:t>14 / 15</a:t>
            </a:r>
            <a:endParaRPr lang="zh-TW" altLang="en-US" sz="1000">
              <a:solidFill>
                <a:srgbClr val="999999"/>
              </a:solidFill>
              <a:latin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39327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57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13446C7-EAB0-4D6D-BA0B-6AF23F2B7393}"/>
              </a:ext>
            </a:extLst>
          </p:cNvPr>
          <p:cNvSpPr txBox="1"/>
          <p:nvPr/>
        </p:nvSpPr>
        <p:spPr>
          <a:xfrm>
            <a:off x="508000" y="1651000"/>
            <a:ext cx="8128000" cy="1778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TW" altLang="en-US">
                <a:solidFill>
                  <a:srgbClr val="FFFFFF"/>
                </a:solidFill>
                <a:latin typeface="Microsoft JhengHei" panose="020B0604030504040204" pitchFamily="34" charset="-120"/>
              </a:rPr>
              <a:t>感謝使用 </a:t>
            </a:r>
            <a:r>
              <a:rPr lang="en-US" altLang="zh-TW">
                <a:solidFill>
                  <a:srgbClr val="FFFFFF"/>
                </a:solidFill>
                <a:latin typeface="Microsoft JhengHei" panose="020B0604030504040204" pitchFamily="34" charset="-120"/>
              </a:rPr>
              <a:t>OfficeLegacyConverter
</a:t>
            </a:r>
            <a:r>
              <a:rPr lang="zh-TW" altLang="en-US">
                <a:solidFill>
                  <a:srgbClr val="FFFFFF"/>
                </a:solidFill>
                <a:latin typeface="Microsoft JhengHei" panose="020B0604030504040204" pitchFamily="34" charset="-120"/>
              </a:rPr>
              <a:t>維護備註：
</a:t>
            </a:r>
            <a:r>
              <a:rPr lang="en-US" altLang="zh-TW">
                <a:solidFill>
                  <a:srgbClr val="FFFFFF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>
                <a:solidFill>
                  <a:srgbClr val="FFFFFF"/>
                </a:solidFill>
                <a:latin typeface="Microsoft JhengHei" panose="020B0604030504040204" pitchFamily="34" charset="-120"/>
              </a:rPr>
              <a:t>專案路徑：</a:t>
            </a:r>
            <a:r>
              <a:rPr lang="en-US" altLang="zh-TW">
                <a:solidFill>
                  <a:srgbClr val="FFFFFF"/>
                </a:solidFill>
                <a:latin typeface="Microsoft JhengHei" panose="020B0604030504040204" pitchFamily="34" charset="-120"/>
              </a:rPr>
              <a:t>d:\VS\Doc2Docx
• </a:t>
            </a:r>
            <a:r>
              <a:rPr lang="zh-TW" altLang="en-US">
                <a:solidFill>
                  <a:srgbClr val="FFFFFF"/>
                </a:solidFill>
                <a:latin typeface="Microsoft JhengHei" panose="020B0604030504040204" pitchFamily="34" charset="-120"/>
              </a:rPr>
              <a:t>如有問題請聯繫專案維護人員
</a:t>
            </a:r>
            <a:r>
              <a:rPr lang="en-US" altLang="zh-TW">
                <a:solidFill>
                  <a:srgbClr val="FFFFFF"/>
                </a:solidFill>
                <a:latin typeface="Microsoft JhengHei" panose="020B0604030504040204" pitchFamily="34" charset="-120"/>
              </a:rPr>
              <a:t>• SOP </a:t>
            </a:r>
            <a:r>
              <a:rPr lang="zh-TW" altLang="en-US">
                <a:solidFill>
                  <a:srgbClr val="FFFFFF"/>
                </a:solidFill>
                <a:latin typeface="Microsoft JhengHei" panose="020B0604030504040204" pitchFamily="34" charset="-120"/>
              </a:rPr>
              <a:t>簡報可透過 </a:t>
            </a:r>
            <a:r>
              <a:rPr lang="en-US" altLang="zh-TW">
                <a:solidFill>
                  <a:srgbClr val="FFFFFF"/>
                </a:solidFill>
                <a:latin typeface="Microsoft JhengHei" panose="020B0604030504040204" pitchFamily="34" charset="-120"/>
              </a:rPr>
              <a:t>docs\SopGenerator </a:t>
            </a:r>
            <a:r>
              <a:rPr lang="zh-TW" altLang="en-US">
                <a:solidFill>
                  <a:srgbClr val="FFFFFF"/>
                </a:solidFill>
                <a:latin typeface="Microsoft JhengHei" panose="020B0604030504040204" pitchFamily="34" charset="-120"/>
              </a:rPr>
              <a:t>重新產生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045DB6E-2D72-497A-9F17-244BB8570F60}"/>
              </a:ext>
            </a:extLst>
          </p:cNvPr>
          <p:cNvSpPr txBox="1"/>
          <p:nvPr/>
        </p:nvSpPr>
        <p:spPr>
          <a:xfrm>
            <a:off x="8128000" y="47879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TW" sz="1000">
                <a:solidFill>
                  <a:srgbClr val="999999"/>
                </a:solidFill>
                <a:latin typeface="Microsoft JhengHei" panose="020B0604030504040204" pitchFamily="34" charset="-120"/>
              </a:rPr>
              <a:t>15 / 15</a:t>
            </a:r>
            <a:endParaRPr lang="zh-TW" altLang="en-US" sz="1000">
              <a:solidFill>
                <a:srgbClr val="999999"/>
              </a:solidFill>
              <a:latin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69854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1930</Words>
  <Application>Microsoft Office PowerPoint</Application>
  <PresentationFormat>自訂</PresentationFormat>
  <Paragraphs>77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1" baseType="lpstr">
      <vt:lpstr>Microsoft JhengHei</vt:lpstr>
      <vt:lpstr>Arial</vt:lpstr>
      <vt:lpstr>Calibri</vt:lpstr>
      <vt:lpstr>Calibri Light</vt:lpstr>
      <vt:lpstr>Consolas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Ashton Hsu 許震宇</dc:creator>
  <cp:lastModifiedBy>Ashton Hsu 許震宇</cp:lastModifiedBy>
  <cp:revision>1</cp:revision>
  <dcterms:created xsi:type="dcterms:W3CDTF">2026-06-09T03:02:48Z</dcterms:created>
  <dcterms:modified xsi:type="dcterms:W3CDTF">2026-06-09T03:02:48Z</dcterms:modified>
</cp:coreProperties>
</file>